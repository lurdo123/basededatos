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DB0CB29B-A5FD-7E70-BF07-02B78D80BA2D}">
          <p14:sldIdLst>
            <p14:sldId id="256"/>
          </p14:sldIdLst>
        </p14:section>
        <p14:section name="Contexto" id="{A0E94B72-20C3-DFD6-E05C-5A25EBC9AA0F}">
          <p14:sldIdLst>
            <p14:sldId id="257"/>
            <p14:sldId id="258"/>
          </p14:sldIdLst>
        </p14:section>
        <p14:section name="Diseño" id="{3B351E54-3602-C5FD-3D4A-84B992E616AD}">
          <p14:sldIdLst>
            <p14:sldId id="259"/>
            <p14:sldId id="260"/>
          </p14:sldIdLst>
        </p14:section>
        <p14:section name="Código" id="{9DE0D721-8DBA-1B51-7299-21EEA08D129A}">
          <p14:sldIdLst>
            <p14:sldId id="261"/>
            <p14:sldId id="262"/>
            <p14:sldId id="263"/>
          </p14:sldIdLst>
        </p14:section>
        <p14:section name="Flujo" id="{F02B60C5-B1EE-44EF-BE17-257A878B0346}">
          <p14:sldIdLst>
            <p14:sldId id="264"/>
            <p14:sldId id="265"/>
          </p14:sldIdLst>
        </p14:section>
        <p14:section name="Triggers" id="{16929246-E833-643E-6203-DC0B081EA57B}">
          <p14:sldIdLst>
            <p14:sldId id="266"/>
            <p14:sldId id="267"/>
            <p14:sldId id="268"/>
            <p14:sldId id="269"/>
            <p14:sldId id="270"/>
          </p14:sldIdLst>
        </p14:section>
        <p14:section name="Resultados" id="{606CF388-FC0A-AC06-9998-28449C88FE09}">
          <p14:sldIdLst>
            <p14:sldId id="271"/>
          </p14:sldIdLst>
        </p14:section>
        <p14:section name="Cierre" id="{5DA9B3FF-86DB-C08B-ED07-80D00095EFD9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6724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Felipe Arce · 12 s · Buenos días, profesor. Somos Felipe, Vicente, Jonelvi y Williams. Presentamos la evolución de El Meo Diente: un package y cuatro triggers para gestionar pedidos, inventario y ventas.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Felipe Arce · 22 s · El local trabajaba a mano y eso generaba cuatro problemas: pedidos sin control, totales mal calculados, ventas sin stock y ninguna información de ventas. Cada uno tiene ahora un objeto de la base de datos que lo resuelve: las tablas de pedidos, la función de total, el trigger de pedidos y el resumen de ventas.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Felipe Arce · 18 s · En la primera entrega las funciones y procedimientos estaban sueltos y el stock se controlaba por producto. Ahora un package centraliza la lógica, el inventario se descuenta por ingredientes según la receta y cuatro triggers aplican las reglas. Mantuvimos los nombres anteriores, que delegan en el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Williams Tapia · 15 s · El modelo tiene siete tablas del negocio más una de auditoría. La clave es PRODUCTO_INGREDIENTE, la receta: dice cuánto de cada ingrediente lleva un producto, y por eso podemos descontar ingredientes y no productos.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Williams Tapia · 22 s · Así se reparte el trabajo. El procedimiento, dentro del package, valida el pedido y cambia su estado. Ese UPDATE dispara TRG_PEDIDO_FILA, que descuenta el inventario. Los triggers de ingredientes impiden stock negativo y registran la auditoría. El COMMIT o ROLLBACK lo decide quien 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Williams Tapia · 20 s · PKG_EL_MEO_DIENTE tiene una cabecera pública y un cuerpo. Expone dos funciones y cuatro procedimientos. FN_CANT_DETALLES es privada: solo se usa dentro del cuerpo. Así centralizamos la lógica sin repetirla.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Williams Tapia · 20 s · FN_TOTAL_PEDIDO calcula el total con un cursor explícito: lo abre, recorre cada línea del detalle, acumula cantidad por precio y devuelve el resultado. Por ejemplo, el pedido 1 da 7.400 pesos. El trigger usa esta misma función.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Williams Tapia · 22 s · SP_CONFIRMAR_PEDIDO lee el estado, exige que sea PENDIENTE y que tenga productos; cada falla lanza su propio error. Si todo está bien, actualiza a CONFIRMADO. Importante: el procedimiento no descuenta stock, eso lo hace el trigger. Y si el pedido no existe, capturamos NO_DATA_FOUND.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Jonelvi Castro · 22 s · Este es el flujo completo: validar, actualizar, disparar el trigger, descontar y totalizar. Si todo sale bien, quien llamó decide el COMMIT. Si alguna regla falla, Oracle revierte toda la sentencia: no quedan descuentos parciales ni pedidos a medias.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Jonelvi Castro · 18 s · Para listar los pendientes usamos cursores anidados: el externo recorre los pedidos y, por cada uno, abrimos un cursor interno con parámetro que trae su detalle. Al final llamamos a la función de total. A la derecha, la salida esperada.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Jonelvi Castro · 20 s · Son cuatro triggers. El de ingredientes por fila rechaza stock inválido. El de ingredientes por sentencia registra una fila de auditoría por operación. El de pedidos controla estados y descuenta ingredientes. Y el de detalle protege los pedidos ya procesados y valida cantidades y precios.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Jonelvi Castro · 22 s · TRG_PEDIDO_FILA es el más importante. Solo actúa cuando el pedido pasa de PENDIENTE a CONFIRMADO. Antes de descontar verifica que haya productos y que cada uno tenga receta; si no, lanza un error y no se confirma.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Vicente Azócar · 25 s · Luego un cursor calcula el consumo de cada ingrediente cruzando el detalle con las recetas, y se descuenta el stock. Con el pedido 1, por ejemplo, se restan 0,30 kilos de papas, 0,10 litros de aceite y así hasta ocho ingredientes. Si alguno quedara negativo, todo se revierte.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Vicente Azócar · 18 s · En ingredientes hay dos triggers: el de fila rechaza stock nulo o negativo, y el de sentencia registra fecha, usuario y operación una vez por sentencia. Esa auditoría está en la misma transacción, así que un ROLLBACK también la revierte.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Vicente Azócar · 12 s · Cada regla tiene su propio código de error, así sabemos qué falló y en qué objeto. Cualquier error revierte la sentencia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Vicente Azócar · 30 s · En la prueba confirmamos cuatro pedidos nuevos. El pedido 1 fue rechazado con ORA-20001 porque ya no estaba pendiente: es la validación esperada. El resumen de ventas entregó 41.700 pesos, con productos, cantidades y montos. Para terminar, abrimos con este botón la aplicación en Oracle APEX, conectada a nuestra base de datos, para ver el sistema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Felipe Arce · 12 s · En resumen, una solución más ordenada y automática: el package centraliza el código y los triggers controlan pedidos e ingredientes. Muchas gracias;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82512"/>
            <a:ext cx="11091672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chemeClr val="accent3"/>
                </a:solidFill>
              </a:rPr>
              <a:t>EL MEO DIENTE  ·  TALLER DE BASE DE DATOS</a:t>
            </a:r>
            <a:endParaRPr lang="en-US" sz="800" dirty="0"/>
          </a:p>
        </p:txBody>
      </p:sp>
      <p:sp>
        <p:nvSpPr>
          <p:cNvPr id="5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hyperlink" Target="https://g8884423b4d48ab-elmeodiente.adb.sa-santiago-1.oraclecloudapps.com/ords/r/elmeodiente/el-meo-diente-gesti%C3%B3n/home?session=216269564732405" TargetMode="External"/><Relationship Id="rId5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_circ_1"/>
          <p:cNvSpPr/>
          <p:nvPr/>
        </p:nvSpPr>
        <p:spPr>
          <a:xfrm>
            <a:off x="7955280" y="-1371600"/>
            <a:ext cx="6035040" cy="60350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s1_circ_2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4" name="s1_tag_3"/>
          <p:cNvSpPr/>
          <p:nvPr/>
        </p:nvSpPr>
        <p:spPr>
          <a:xfrm>
            <a:off x="777240" y="822960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5" name="s1_t_4"/>
          <p:cNvSpPr txBox="1"/>
          <p:nvPr/>
        </p:nvSpPr>
        <p:spPr>
          <a:xfrm>
            <a:off x="777240" y="822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EVOLUCIÓN DEL PROYECTO</a:t>
            </a:r>
            <a:endParaRPr lang="en-US" sz="1000" dirty="0"/>
          </a:p>
        </p:txBody>
      </p:sp>
      <p:sp>
        <p:nvSpPr>
          <p:cNvPr id="6" name="s1_t_5"/>
          <p:cNvSpPr txBox="1"/>
          <p:nvPr/>
        </p:nvSpPr>
        <p:spPr>
          <a:xfrm>
            <a:off x="777240" y="13716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MEO</a:t>
            </a:r>
            <a:endParaRPr lang="en-US" sz="7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7200" b="1" dirty="0">
                <a:solidFill>
                  <a:schemeClr val="bg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DIENTE</a:t>
            </a:r>
            <a:endParaRPr lang="en-US" sz="7200" dirty="0"/>
          </a:p>
        </p:txBody>
      </p:sp>
      <p:sp>
        <p:nvSpPr>
          <p:cNvPr id="7" name="s1_t_6"/>
          <p:cNvSpPr txBox="1"/>
          <p:nvPr/>
        </p:nvSpPr>
        <p:spPr>
          <a:xfrm>
            <a:off x="777240" y="3611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Packages y triggers implementados</a:t>
            </a:r>
            <a:endParaRPr lang="en-US" sz="2400" dirty="0"/>
          </a:p>
        </p:txBody>
      </p:sp>
      <p:sp>
        <p:nvSpPr>
          <p:cNvPr id="8" name="s1_t_7"/>
          <p:cNvSpPr txBox="1"/>
          <p:nvPr/>
        </p:nvSpPr>
        <p:spPr>
          <a:xfrm>
            <a:off x="7772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Gestión de pedidos · inventario por ingredientes · ventas</a:t>
            </a:r>
            <a:endParaRPr lang="en-US" sz="1600" dirty="0"/>
          </a:p>
        </p:txBody>
      </p:sp>
      <p:sp>
        <p:nvSpPr>
          <p:cNvPr id="9" name="s1_ln_8"/>
          <p:cNvSpPr/>
          <p:nvPr/>
        </p:nvSpPr>
        <p:spPr>
          <a:xfrm>
            <a:off x="777240" y="5166360"/>
            <a:ext cx="53949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0" name="s1_t_9"/>
          <p:cNvSpPr txBox="1"/>
          <p:nvPr/>
        </p:nvSpPr>
        <p:spPr>
          <a:xfrm>
            <a:off x="777240" y="5349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Felipe Arce  ·  Vicente Azócar  ·  Jonelvi Castro  ·  Williams Tapia</a:t>
            </a:r>
            <a:endParaRPr lang="en-US" sz="1300" dirty="0"/>
          </a:p>
        </p:txBody>
      </p:sp>
      <p:sp>
        <p:nvSpPr>
          <p:cNvPr id="11" name="s1_t_10"/>
          <p:cNvSpPr txBox="1"/>
          <p:nvPr/>
        </p:nvSpPr>
        <p:spPr>
          <a:xfrm>
            <a:off x="777240" y="5715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3"/>
                </a:solidFill>
              </a:rPr>
              <a:t>Taller de Base de Datos  |  Sección 005V  |  Profesor Mauricio Hernán Machuca Aguilera</a:t>
            </a:r>
            <a:endParaRPr lang="en-US" sz="1050" dirty="0"/>
          </a:p>
        </p:txBody>
      </p:sp>
      <p:pic>
        <p:nvPicPr>
          <p:cNvPr id="12" name="s1_code_11" descr="Cabecera del package PKG_EL_MEO_DIENTE en PL/SQ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057400"/>
            <a:ext cx="5120640" cy="2130203"/>
          </a:xfrm>
          <a:prstGeom prst="rect">
            <a:avLst/>
          </a:prstGeom>
        </p:spPr>
      </p:pic>
      <p:sp>
        <p:nvSpPr>
          <p:cNvPr id="13" name="s1_chip_12"/>
          <p:cNvSpPr/>
          <p:nvPr/>
        </p:nvSpPr>
        <p:spPr>
          <a:xfrm>
            <a:off x="6446520" y="1600200"/>
            <a:ext cx="2240280" cy="310896"/>
          </a:xfrm>
          <a:prstGeom prst="roundRect">
            <a:avLst>
              <a:gd name="adj" fmla="val 50000"/>
            </a:avLst>
          </a:prstGeom>
          <a:solidFill>
            <a:schemeClr val="accent2">
              <a:alpha val="20000"/>
            </a:schemeClr>
          </a:solidFill>
          <a:ln/>
        </p:spPr>
      </p:sp>
      <p:sp>
        <p:nvSpPr>
          <p:cNvPr id="14" name="s1_t_13"/>
          <p:cNvSpPr txBox="1"/>
          <p:nvPr/>
        </p:nvSpPr>
        <p:spPr>
          <a:xfrm>
            <a:off x="6446520" y="16002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PL/SQL  ·  ORACLE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8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7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01  |  EL PROBLEMA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Cuatro problemas en la operación manual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El local trabaja en papel y de memoria. Esto es lo que resolvimos con PL/SQL sobre Oracle.</a:t>
            </a:r>
            <a:endParaRPr lang="en-US" sz="1400" dirty="0"/>
          </a:p>
        </p:txBody>
      </p:sp>
      <p:sp>
        <p:nvSpPr>
          <p:cNvPr id="5" name="s2_card_14"/>
          <p:cNvSpPr/>
          <p:nvPr/>
        </p:nvSpPr>
        <p:spPr>
          <a:xfrm>
            <a:off x="548640" y="1783080"/>
            <a:ext cx="260604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6" name="s2_ico_15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s2_img_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67128"/>
            <a:ext cx="329184" cy="329184"/>
          </a:xfrm>
          <a:prstGeom prst="rect">
            <a:avLst/>
          </a:prstGeom>
        </p:spPr>
      </p:pic>
      <p:sp>
        <p:nvSpPr>
          <p:cNvPr id="8" name="s2_t_17"/>
          <p:cNvSpPr txBox="1"/>
          <p:nvPr/>
        </p:nvSpPr>
        <p:spPr>
          <a:xfrm>
            <a:off x="777240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Control de pedidos deficiente</a:t>
            </a:r>
            <a:endParaRPr lang="en-US" sz="1600" dirty="0"/>
          </a:p>
        </p:txBody>
      </p:sp>
      <p:sp>
        <p:nvSpPr>
          <p:cNvPr id="9" name="s2_t_18"/>
          <p:cNvSpPr txBox="1"/>
          <p:nvPr/>
        </p:nvSpPr>
        <p:spPr>
          <a:xfrm>
            <a:off x="777240" y="34747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Pedidos en papel o de memoria: se pierden y no hay trazabilidad.</a:t>
            </a:r>
            <a:endParaRPr lang="en-US" sz="1200" dirty="0"/>
          </a:p>
        </p:txBody>
      </p:sp>
      <p:sp>
        <p:nvSpPr>
          <p:cNvPr id="10" name="s2_sol_19"/>
          <p:cNvSpPr/>
          <p:nvPr/>
        </p:nvSpPr>
        <p:spPr>
          <a:xfrm>
            <a:off x="658368" y="4480560"/>
            <a:ext cx="2386584" cy="1627632"/>
          </a:xfrm>
          <a:prstGeom prst="roundRect">
            <a:avLst>
              <a:gd name="adj" fmla="val 5618"/>
            </a:avLst>
          </a:prstGeom>
          <a:solidFill>
            <a:schemeClr val="accent5"/>
          </a:solidFill>
          <a:ln/>
        </p:spPr>
      </p:sp>
      <p:pic>
        <p:nvPicPr>
          <p:cNvPr id="11" name="s2_img_2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220" y="4325112"/>
            <a:ext cx="182880" cy="182880"/>
          </a:xfrm>
          <a:prstGeom prst="rect">
            <a:avLst/>
          </a:prstGeom>
        </p:spPr>
      </p:pic>
      <p:sp>
        <p:nvSpPr>
          <p:cNvPr id="12" name="s2_t_21"/>
          <p:cNvSpPr txBox="1"/>
          <p:nvPr/>
        </p:nvSpPr>
        <p:spPr>
          <a:xfrm>
            <a:off x="822960" y="46177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SOLUCIÓN</a:t>
            </a:r>
            <a:endParaRPr lang="en-US" sz="900" dirty="0"/>
          </a:p>
        </p:txBody>
      </p:sp>
      <p:sp>
        <p:nvSpPr>
          <p:cNvPr id="13" name="s2_t_22"/>
          <p:cNvSpPr txBox="1"/>
          <p:nvPr/>
        </p:nvSpPr>
        <p:spPr>
          <a:xfrm>
            <a:off x="822960" y="4846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 + DETALLE_PEDIDO</a:t>
            </a:r>
            <a:endParaRPr lang="en-US" sz="1200" dirty="0"/>
          </a:p>
        </p:txBody>
      </p:sp>
      <p:sp>
        <p:nvSpPr>
          <p:cNvPr id="14" name="s2_t_23"/>
          <p:cNvSpPr txBox="1"/>
          <p:nvPr/>
        </p:nvSpPr>
        <p:spPr>
          <a:xfrm>
            <a:off x="822960" y="52395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Cada pedido guarda su estado: PENDIENTE, CONFIRMADO, ENTREGADO o CANCELADO.</a:t>
            </a:r>
            <a:endParaRPr lang="en-US" sz="1150" dirty="0"/>
          </a:p>
        </p:txBody>
      </p:sp>
      <p:sp>
        <p:nvSpPr>
          <p:cNvPr id="15" name="s2_card_24"/>
          <p:cNvSpPr/>
          <p:nvPr/>
        </p:nvSpPr>
        <p:spPr>
          <a:xfrm>
            <a:off x="3377184" y="1783080"/>
            <a:ext cx="260604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16" name="s2_ico_25"/>
          <p:cNvSpPr/>
          <p:nvPr/>
        </p:nvSpPr>
        <p:spPr>
          <a:xfrm>
            <a:off x="3605784" y="20116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7" name="s2_img_2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232" y="2167128"/>
            <a:ext cx="329184" cy="329184"/>
          </a:xfrm>
          <a:prstGeom prst="rect">
            <a:avLst/>
          </a:prstGeom>
        </p:spPr>
      </p:pic>
      <p:sp>
        <p:nvSpPr>
          <p:cNvPr id="18" name="s2_t_27"/>
          <p:cNvSpPr txBox="1"/>
          <p:nvPr/>
        </p:nvSpPr>
        <p:spPr>
          <a:xfrm>
            <a:off x="3605784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Totales calculados a mano</a:t>
            </a:r>
            <a:endParaRPr lang="en-US" sz="1600" dirty="0"/>
          </a:p>
        </p:txBody>
      </p:sp>
      <p:sp>
        <p:nvSpPr>
          <p:cNvPr id="19" name="s2_t_28"/>
          <p:cNvSpPr txBox="1"/>
          <p:nvPr/>
        </p:nvSpPr>
        <p:spPr>
          <a:xfrm>
            <a:off x="3605784" y="34747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Sumar a ojo aumenta el riesgo de cobrar de más o de menos.</a:t>
            </a:r>
            <a:endParaRPr lang="en-US" sz="1200" dirty="0"/>
          </a:p>
        </p:txBody>
      </p:sp>
      <p:sp>
        <p:nvSpPr>
          <p:cNvPr id="20" name="s2_sol_29"/>
          <p:cNvSpPr/>
          <p:nvPr/>
        </p:nvSpPr>
        <p:spPr>
          <a:xfrm>
            <a:off x="3486912" y="4480560"/>
            <a:ext cx="2386584" cy="1627632"/>
          </a:xfrm>
          <a:prstGeom prst="roundRect">
            <a:avLst>
              <a:gd name="adj" fmla="val 5618"/>
            </a:avLst>
          </a:prstGeom>
          <a:solidFill>
            <a:schemeClr val="accent5"/>
          </a:solidFill>
          <a:ln/>
        </p:spPr>
      </p:sp>
      <p:pic>
        <p:nvPicPr>
          <p:cNvPr id="21" name="s2_img_3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764" y="4325112"/>
            <a:ext cx="182880" cy="182880"/>
          </a:xfrm>
          <a:prstGeom prst="rect">
            <a:avLst/>
          </a:prstGeom>
        </p:spPr>
      </p:pic>
      <p:sp>
        <p:nvSpPr>
          <p:cNvPr id="22" name="s2_t_31"/>
          <p:cNvSpPr txBox="1"/>
          <p:nvPr/>
        </p:nvSpPr>
        <p:spPr>
          <a:xfrm>
            <a:off x="3651504" y="46177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SOLUCIÓN</a:t>
            </a:r>
            <a:endParaRPr lang="en-US" sz="900" dirty="0"/>
          </a:p>
        </p:txBody>
      </p:sp>
      <p:sp>
        <p:nvSpPr>
          <p:cNvPr id="23" name="s2_t_32"/>
          <p:cNvSpPr txBox="1"/>
          <p:nvPr/>
        </p:nvSpPr>
        <p:spPr>
          <a:xfrm>
            <a:off x="3651504" y="4846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FN_TOTAL_PEDIDO</a:t>
            </a:r>
            <a:endParaRPr lang="en-US" sz="1200" dirty="0"/>
          </a:p>
        </p:txBody>
      </p:sp>
      <p:sp>
        <p:nvSpPr>
          <p:cNvPr id="24" name="s2_t_33"/>
          <p:cNvSpPr txBox="1"/>
          <p:nvPr/>
        </p:nvSpPr>
        <p:spPr>
          <a:xfrm>
            <a:off x="3651504" y="52395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Suma cantidad × precio desde el detalle real del pedido.</a:t>
            </a:r>
            <a:endParaRPr lang="en-US" sz="1150" dirty="0"/>
          </a:p>
        </p:txBody>
      </p:sp>
      <p:sp>
        <p:nvSpPr>
          <p:cNvPr id="25" name="s2_card_34"/>
          <p:cNvSpPr/>
          <p:nvPr/>
        </p:nvSpPr>
        <p:spPr>
          <a:xfrm>
            <a:off x="6205728" y="1783080"/>
            <a:ext cx="260604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26" name="s2_ico_35"/>
          <p:cNvSpPr/>
          <p:nvPr/>
        </p:nvSpPr>
        <p:spPr>
          <a:xfrm>
            <a:off x="6434328" y="20116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7" name="s2_img_3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776" y="2167128"/>
            <a:ext cx="329184" cy="329184"/>
          </a:xfrm>
          <a:prstGeom prst="rect">
            <a:avLst/>
          </a:prstGeom>
        </p:spPr>
      </p:pic>
      <p:sp>
        <p:nvSpPr>
          <p:cNvPr id="28" name="s2_t_37"/>
          <p:cNvSpPr txBox="1"/>
          <p:nvPr/>
        </p:nvSpPr>
        <p:spPr>
          <a:xfrm>
            <a:off x="6434328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Ventas sin stock</a:t>
            </a:r>
            <a:endParaRPr lang="en-US" sz="1600" dirty="0"/>
          </a:p>
        </p:txBody>
      </p:sp>
      <p:sp>
        <p:nvSpPr>
          <p:cNvPr id="29" name="s2_t_38"/>
          <p:cNvSpPr txBox="1"/>
          <p:nvPr/>
        </p:nvSpPr>
        <p:spPr>
          <a:xfrm>
            <a:off x="6434328" y="34747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Se aceptan pedidos que luego se cancelan por falta de insumos.</a:t>
            </a:r>
            <a:endParaRPr lang="en-US" sz="1200" dirty="0"/>
          </a:p>
        </p:txBody>
      </p:sp>
      <p:sp>
        <p:nvSpPr>
          <p:cNvPr id="30" name="s2_sol_39"/>
          <p:cNvSpPr/>
          <p:nvPr/>
        </p:nvSpPr>
        <p:spPr>
          <a:xfrm>
            <a:off x="6315456" y="4480560"/>
            <a:ext cx="2386584" cy="1627632"/>
          </a:xfrm>
          <a:prstGeom prst="roundRect">
            <a:avLst>
              <a:gd name="adj" fmla="val 5618"/>
            </a:avLst>
          </a:prstGeom>
          <a:solidFill>
            <a:schemeClr val="accent5"/>
          </a:solidFill>
          <a:ln/>
        </p:spPr>
      </p:sp>
      <p:pic>
        <p:nvPicPr>
          <p:cNvPr id="31" name="s2_img_4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308" y="4325112"/>
            <a:ext cx="182880" cy="182880"/>
          </a:xfrm>
          <a:prstGeom prst="rect">
            <a:avLst/>
          </a:prstGeom>
        </p:spPr>
      </p:pic>
      <p:sp>
        <p:nvSpPr>
          <p:cNvPr id="32" name="s2_t_41"/>
          <p:cNvSpPr txBox="1"/>
          <p:nvPr/>
        </p:nvSpPr>
        <p:spPr>
          <a:xfrm>
            <a:off x="6480048" y="46177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SOLUCIÓN</a:t>
            </a:r>
            <a:endParaRPr lang="en-US" sz="900" dirty="0"/>
          </a:p>
        </p:txBody>
      </p:sp>
      <p:sp>
        <p:nvSpPr>
          <p:cNvPr id="33" name="s2_t_42"/>
          <p:cNvSpPr txBox="1"/>
          <p:nvPr/>
        </p:nvSpPr>
        <p:spPr>
          <a:xfrm>
            <a:off x="6480048" y="4846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TRG_PEDIDO_FILA</a:t>
            </a:r>
            <a:endParaRPr lang="en-US" sz="1200" dirty="0"/>
          </a:p>
        </p:txBody>
      </p:sp>
      <p:sp>
        <p:nvSpPr>
          <p:cNvPr id="34" name="s2_t_43"/>
          <p:cNvSpPr txBox="1"/>
          <p:nvPr/>
        </p:nvSpPr>
        <p:spPr>
          <a:xfrm>
            <a:off x="6480048" y="52395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Valida la receta y descuenta ingredientes al confirmar.</a:t>
            </a:r>
            <a:endParaRPr lang="en-US" sz="1150" dirty="0"/>
          </a:p>
        </p:txBody>
      </p:sp>
      <p:sp>
        <p:nvSpPr>
          <p:cNvPr id="35" name="s2_card_44"/>
          <p:cNvSpPr/>
          <p:nvPr/>
        </p:nvSpPr>
        <p:spPr>
          <a:xfrm>
            <a:off x="9034272" y="1783080"/>
            <a:ext cx="2606040" cy="44348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36" name="s2_ico_45"/>
          <p:cNvSpPr/>
          <p:nvPr/>
        </p:nvSpPr>
        <p:spPr>
          <a:xfrm>
            <a:off x="9262872" y="20116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7" name="s2_img_4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8320" y="2167128"/>
            <a:ext cx="329184" cy="329184"/>
          </a:xfrm>
          <a:prstGeom prst="rect">
            <a:avLst/>
          </a:prstGeom>
        </p:spPr>
      </p:pic>
      <p:sp>
        <p:nvSpPr>
          <p:cNvPr id="38" name="s2_t_47"/>
          <p:cNvSpPr txBox="1"/>
          <p:nvPr/>
        </p:nvSpPr>
        <p:spPr>
          <a:xfrm>
            <a:off x="9262872" y="28346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 información de ventas</a:t>
            </a:r>
            <a:endParaRPr lang="en-US" sz="1600" dirty="0"/>
          </a:p>
        </p:txBody>
      </p:sp>
      <p:sp>
        <p:nvSpPr>
          <p:cNvPr id="39" name="s2_t_48"/>
          <p:cNvSpPr txBox="1"/>
          <p:nvPr/>
        </p:nvSpPr>
        <p:spPr>
          <a:xfrm>
            <a:off x="9262872" y="34747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Reconstruir las ventas pedido por pedido consume tiempo.</a:t>
            </a:r>
            <a:endParaRPr lang="en-US" sz="1200" dirty="0"/>
          </a:p>
        </p:txBody>
      </p:sp>
      <p:sp>
        <p:nvSpPr>
          <p:cNvPr id="40" name="s2_sol_49"/>
          <p:cNvSpPr/>
          <p:nvPr/>
        </p:nvSpPr>
        <p:spPr>
          <a:xfrm>
            <a:off x="9144000" y="4480560"/>
            <a:ext cx="2386584" cy="1627632"/>
          </a:xfrm>
          <a:prstGeom prst="roundRect">
            <a:avLst>
              <a:gd name="adj" fmla="val 5618"/>
            </a:avLst>
          </a:prstGeom>
          <a:solidFill>
            <a:schemeClr val="accent5"/>
          </a:solidFill>
          <a:ln/>
        </p:spPr>
      </p:sp>
      <p:pic>
        <p:nvPicPr>
          <p:cNvPr id="41" name="s2_img_5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852" y="4325112"/>
            <a:ext cx="182880" cy="182880"/>
          </a:xfrm>
          <a:prstGeom prst="rect">
            <a:avLst/>
          </a:prstGeom>
        </p:spPr>
      </p:pic>
      <p:sp>
        <p:nvSpPr>
          <p:cNvPr id="42" name="s2_t_51"/>
          <p:cNvSpPr txBox="1"/>
          <p:nvPr/>
        </p:nvSpPr>
        <p:spPr>
          <a:xfrm>
            <a:off x="9308592" y="461772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SOLUCIÓN</a:t>
            </a:r>
            <a:endParaRPr lang="en-US" sz="900" dirty="0"/>
          </a:p>
        </p:txBody>
      </p:sp>
      <p:sp>
        <p:nvSpPr>
          <p:cNvPr id="43" name="s2_t_52"/>
          <p:cNvSpPr txBox="1"/>
          <p:nvPr/>
        </p:nvSpPr>
        <p:spPr>
          <a:xfrm>
            <a:off x="9308592" y="48463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SP_RESUMEN_VENTAS</a:t>
            </a:r>
            <a:endParaRPr lang="en-US" sz="1200" dirty="0"/>
          </a:p>
        </p:txBody>
      </p:sp>
      <p:sp>
        <p:nvSpPr>
          <p:cNvPr id="44" name="s2_t_53"/>
          <p:cNvSpPr txBox="1"/>
          <p:nvPr/>
        </p:nvSpPr>
        <p:spPr>
          <a:xfrm>
            <a:off x="9308592" y="523951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Total vendido y ranking de productos por período.</a:t>
            </a:r>
            <a:endParaRPr lang="en-US" sz="11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5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50"/>
                            </p:stCondLst>
                            <p:childTnLst>
                              <p:par>
                                <p:cTn id="87" presetID="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850"/>
                            </p:stCondLst>
                            <p:childTnLst>
                              <p:par>
                                <p:cTn id="128" presetID="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4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2" grpId="0" animBg="1"/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02  |  EVOLUCIÓN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 la primera versión a la solución actual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Los cuatro problemas se mantienen. Cambió la arquitectura que los resuelve.</a:t>
            </a:r>
            <a:endParaRPr lang="en-US" sz="1400" dirty="0"/>
          </a:p>
        </p:txBody>
      </p:sp>
      <p:sp>
        <p:nvSpPr>
          <p:cNvPr id="5" name="s3_card_54"/>
          <p:cNvSpPr/>
          <p:nvPr/>
        </p:nvSpPr>
        <p:spPr>
          <a:xfrm>
            <a:off x="548640" y="1783080"/>
            <a:ext cx="5029200" cy="352044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6" name="s3_t_55"/>
          <p:cNvSpPr txBox="1"/>
          <p:nvPr/>
        </p:nvSpPr>
        <p:spPr>
          <a:xfrm>
            <a:off x="868680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3"/>
                </a:solidFill>
              </a:rPr>
              <a:t>ANTES</a:t>
            </a:r>
            <a:endParaRPr lang="en-US" sz="1200" dirty="0"/>
          </a:p>
        </p:txBody>
      </p:sp>
      <p:sp>
        <p:nvSpPr>
          <p:cNvPr id="7" name="s3_card_56"/>
          <p:cNvSpPr/>
          <p:nvPr/>
        </p:nvSpPr>
        <p:spPr>
          <a:xfrm>
            <a:off x="6611112" y="1783080"/>
            <a:ext cx="5029200" cy="3520440"/>
          </a:xfrm>
          <a:prstGeom prst="roundRect">
            <a:avLst>
              <a:gd name="adj" fmla="val 3117"/>
            </a:avLst>
          </a:prstGeom>
          <a:solidFill>
            <a:schemeClr val="tx1"/>
          </a:solidFill>
          <a:ln/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8" name="s3_t_57"/>
          <p:cNvSpPr txBox="1"/>
          <p:nvPr/>
        </p:nvSpPr>
        <p:spPr>
          <a:xfrm>
            <a:off x="6931152" y="2039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AHORA</a:t>
            </a:r>
            <a:endParaRPr lang="en-US" sz="1200" dirty="0"/>
          </a:p>
        </p:txBody>
      </p:sp>
      <p:sp>
        <p:nvSpPr>
          <p:cNvPr id="9" name="s3_dot_58"/>
          <p:cNvSpPr/>
          <p:nvPr/>
        </p:nvSpPr>
        <p:spPr>
          <a:xfrm>
            <a:off x="868680" y="264261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s3_img_5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743200"/>
            <a:ext cx="164592" cy="164592"/>
          </a:xfrm>
          <a:prstGeom prst="rect">
            <a:avLst/>
          </a:prstGeom>
        </p:spPr>
      </p:pic>
      <p:sp>
        <p:nvSpPr>
          <p:cNvPr id="11" name="s3_t_60"/>
          <p:cNvSpPr txBox="1"/>
          <p:nvPr/>
        </p:nvSpPr>
        <p:spPr>
          <a:xfrm>
            <a:off x="1417320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Funciones y procedimientos independientes</a:t>
            </a:r>
            <a:endParaRPr lang="en-US" sz="1600" dirty="0"/>
          </a:p>
        </p:txBody>
      </p:sp>
      <p:sp>
        <p:nvSpPr>
          <p:cNvPr id="12" name="s3_dot_61"/>
          <p:cNvSpPr/>
          <p:nvPr/>
        </p:nvSpPr>
        <p:spPr>
          <a:xfrm>
            <a:off x="6931152" y="264261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3_img_6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2743200"/>
            <a:ext cx="164592" cy="164592"/>
          </a:xfrm>
          <a:prstGeom prst="rect">
            <a:avLst/>
          </a:prstGeom>
        </p:spPr>
      </p:pic>
      <p:sp>
        <p:nvSpPr>
          <p:cNvPr id="14" name="s3_t_63"/>
          <p:cNvSpPr txBox="1"/>
          <p:nvPr/>
        </p:nvSpPr>
        <p:spPr>
          <a:xfrm>
            <a:off x="7479792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 package centraliza la lógica: PKG_EL_MEO_DIENTE</a:t>
            </a:r>
            <a:endParaRPr lang="en-US" sz="1600" dirty="0"/>
          </a:p>
        </p:txBody>
      </p:sp>
      <p:sp>
        <p:nvSpPr>
          <p:cNvPr id="15" name="s3_dot_64"/>
          <p:cNvSpPr/>
          <p:nvPr/>
        </p:nvSpPr>
        <p:spPr>
          <a:xfrm>
            <a:off x="868680" y="351129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s3_img_6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11880"/>
            <a:ext cx="164592" cy="164592"/>
          </a:xfrm>
          <a:prstGeom prst="rect">
            <a:avLst/>
          </a:prstGeom>
        </p:spPr>
      </p:pic>
      <p:sp>
        <p:nvSpPr>
          <p:cNvPr id="17" name="s3_t_66"/>
          <p:cNvSpPr txBox="1"/>
          <p:nvPr/>
        </p:nvSpPr>
        <p:spPr>
          <a:xfrm>
            <a:off x="1417320" y="3474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Stock controlado a nivel de producto</a:t>
            </a:r>
            <a:endParaRPr lang="en-US" sz="1600" dirty="0"/>
          </a:p>
        </p:txBody>
      </p:sp>
      <p:sp>
        <p:nvSpPr>
          <p:cNvPr id="18" name="s3_dot_67"/>
          <p:cNvSpPr/>
          <p:nvPr/>
        </p:nvSpPr>
        <p:spPr>
          <a:xfrm>
            <a:off x="6931152" y="35112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s3_img_6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611880"/>
            <a:ext cx="164592" cy="164592"/>
          </a:xfrm>
          <a:prstGeom prst="rect">
            <a:avLst/>
          </a:prstGeom>
        </p:spPr>
      </p:pic>
      <p:sp>
        <p:nvSpPr>
          <p:cNvPr id="20" name="s3_t_69"/>
          <p:cNvSpPr txBox="1"/>
          <p:nvPr/>
        </p:nvSpPr>
        <p:spPr>
          <a:xfrm>
            <a:off x="7479792" y="3474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El inventario se descuenta por ingredientes, según la receta</a:t>
            </a:r>
            <a:endParaRPr lang="en-US" sz="1600" dirty="0"/>
          </a:p>
        </p:txBody>
      </p:sp>
      <p:sp>
        <p:nvSpPr>
          <p:cNvPr id="21" name="s3_dot_70"/>
          <p:cNvSpPr/>
          <p:nvPr/>
        </p:nvSpPr>
        <p:spPr>
          <a:xfrm>
            <a:off x="868680" y="4379976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s3_img_7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480560"/>
            <a:ext cx="164592" cy="164592"/>
          </a:xfrm>
          <a:prstGeom prst="rect">
            <a:avLst/>
          </a:prstGeom>
        </p:spPr>
      </p:pic>
      <p:sp>
        <p:nvSpPr>
          <p:cNvPr id="23" name="s3_t_72"/>
          <p:cNvSpPr txBox="1"/>
          <p:nvPr/>
        </p:nvSpPr>
        <p:spPr>
          <a:xfrm>
            <a:off x="1417320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Package y triggers solo como propuesta</a:t>
            </a:r>
            <a:endParaRPr lang="en-US" sz="1600" dirty="0"/>
          </a:p>
        </p:txBody>
      </p:sp>
      <p:sp>
        <p:nvSpPr>
          <p:cNvPr id="24" name="s3_dot_73"/>
          <p:cNvSpPr/>
          <p:nvPr/>
        </p:nvSpPr>
        <p:spPr>
          <a:xfrm>
            <a:off x="6931152" y="437997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s3_img_7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4480560"/>
            <a:ext cx="164592" cy="164592"/>
          </a:xfrm>
          <a:prstGeom prst="rect">
            <a:avLst/>
          </a:prstGeom>
        </p:spPr>
      </p:pic>
      <p:sp>
        <p:nvSpPr>
          <p:cNvPr id="26" name="s3_t_75"/>
          <p:cNvSpPr txBox="1"/>
          <p:nvPr/>
        </p:nvSpPr>
        <p:spPr>
          <a:xfrm>
            <a:off x="7479792" y="4343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Cuatro triggers aplican las reglas automáticamente</a:t>
            </a:r>
            <a:endParaRPr lang="en-US" sz="1600" dirty="0"/>
          </a:p>
        </p:txBody>
      </p:sp>
      <p:sp>
        <p:nvSpPr>
          <p:cNvPr id="27" name="s3_arr_76"/>
          <p:cNvSpPr/>
          <p:nvPr/>
        </p:nvSpPr>
        <p:spPr>
          <a:xfrm>
            <a:off x="5820156" y="32689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s3_img_7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748" y="3433572"/>
            <a:ext cx="219456" cy="219456"/>
          </a:xfrm>
          <a:prstGeom prst="rect">
            <a:avLst/>
          </a:prstGeom>
        </p:spPr>
      </p:pic>
      <p:sp>
        <p:nvSpPr>
          <p:cNvPr id="29" name="s3_ban_78"/>
          <p:cNvSpPr/>
          <p:nvPr/>
        </p:nvSpPr>
        <p:spPr>
          <a:xfrm>
            <a:off x="548640" y="5532120"/>
            <a:ext cx="11091672" cy="713232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/>
        </p:spPr>
      </p:sp>
      <p:pic>
        <p:nvPicPr>
          <p:cNvPr id="30" name="s3_img_7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69864"/>
            <a:ext cx="237744" cy="237744"/>
          </a:xfrm>
          <a:prstGeom prst="rect">
            <a:avLst/>
          </a:prstGeom>
        </p:spPr>
      </p:pic>
      <p:sp>
        <p:nvSpPr>
          <p:cNvPr id="31" name="s3_t_80"/>
          <p:cNvSpPr txBox="1"/>
          <p:nvPr/>
        </p:nvSpPr>
        <p:spPr>
          <a:xfrm>
            <a:off x="1234440" y="5532120"/>
            <a:ext cx="10085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Compatibilidad: </a:t>
            </a:r>
            <a:r>
              <a:rPr lang="en-US" sz="1300" dirty="0">
                <a:solidFill>
                  <a:schemeClr val="tx1"/>
                </a:solidFill>
              </a:rPr>
              <a:t>se conservan los nombres anteriores. Los procedimientos y funciones independientes ahora delegan en el package.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"/>
                            </p:stCondLst>
                            <p:childTnLst>
                              <p:par>
                                <p:cTn id="3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15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8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03  |  MODELO DE DATOS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Las tablas que sostienen la solución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Siete tablas del negocio y una de auditoría que llena un trigger.</a:t>
            </a:r>
            <a:endParaRPr lang="en-US" sz="1400" dirty="0"/>
          </a:p>
        </p:txBody>
      </p:sp>
      <p:sp>
        <p:nvSpPr>
          <p:cNvPr id="5" name="s4_tbl_81"/>
          <p:cNvSpPr/>
          <p:nvPr/>
        </p:nvSpPr>
        <p:spPr>
          <a:xfrm>
            <a:off x="548640" y="1783080"/>
            <a:ext cx="1783080" cy="1408176"/>
          </a:xfrm>
          <a:prstGeom prst="roundRect">
            <a:avLst>
              <a:gd name="adj" fmla="val 519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6" name="s4_tblh_82"/>
          <p:cNvSpPr/>
          <p:nvPr/>
        </p:nvSpPr>
        <p:spPr>
          <a:xfrm>
            <a:off x="548640" y="1783080"/>
            <a:ext cx="178308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7" name="s4_tblh2_83"/>
          <p:cNvSpPr/>
          <p:nvPr/>
        </p:nvSpPr>
        <p:spPr>
          <a:xfrm>
            <a:off x="548640" y="1965960"/>
            <a:ext cx="1783080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s4_t_84"/>
          <p:cNvSpPr txBox="1"/>
          <p:nvPr/>
        </p:nvSpPr>
        <p:spPr>
          <a:xfrm>
            <a:off x="6217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100" dirty="0"/>
          </a:p>
        </p:txBody>
      </p:sp>
      <p:sp>
        <p:nvSpPr>
          <p:cNvPr id="9" name="s4_t_85"/>
          <p:cNvSpPr txBox="1"/>
          <p:nvPr/>
        </p:nvSpPr>
        <p:spPr>
          <a:xfrm>
            <a:off x="64008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000" dirty="0"/>
          </a:p>
        </p:txBody>
      </p:sp>
      <p:sp>
        <p:nvSpPr>
          <p:cNvPr id="10" name="s4_t_86"/>
          <p:cNvSpPr txBox="1"/>
          <p:nvPr/>
        </p:nvSpPr>
        <p:spPr>
          <a:xfrm>
            <a:off x="1874520" y="21945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</a:t>
            </a:r>
            <a:endParaRPr lang="en-US" sz="850" dirty="0"/>
          </a:p>
        </p:txBody>
      </p:sp>
      <p:sp>
        <p:nvSpPr>
          <p:cNvPr id="11" name="s4_t_87"/>
          <p:cNvSpPr txBox="1"/>
          <p:nvPr/>
        </p:nvSpPr>
        <p:spPr>
          <a:xfrm>
            <a:off x="640080" y="2441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</a:t>
            </a:r>
            <a:endParaRPr lang="en-US" sz="1000" dirty="0"/>
          </a:p>
        </p:txBody>
      </p:sp>
      <p:sp>
        <p:nvSpPr>
          <p:cNvPr id="12" name="s4_t_88"/>
          <p:cNvSpPr txBox="1"/>
          <p:nvPr/>
        </p:nvSpPr>
        <p:spPr>
          <a:xfrm>
            <a:off x="640080" y="2688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telefono</a:t>
            </a:r>
            <a:endParaRPr lang="en-US" sz="1000" dirty="0"/>
          </a:p>
        </p:txBody>
      </p:sp>
      <p:sp>
        <p:nvSpPr>
          <p:cNvPr id="13" name="s4_t_89"/>
          <p:cNvSpPr txBox="1"/>
          <p:nvPr/>
        </p:nvSpPr>
        <p:spPr>
          <a:xfrm>
            <a:off x="640080" y="2935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4" name="s4_tbl_90"/>
          <p:cNvSpPr/>
          <p:nvPr/>
        </p:nvSpPr>
        <p:spPr>
          <a:xfrm>
            <a:off x="2834640" y="1783080"/>
            <a:ext cx="1783080" cy="1408176"/>
          </a:xfrm>
          <a:prstGeom prst="roundRect">
            <a:avLst>
              <a:gd name="adj" fmla="val 519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15" name="s4_tblh_91"/>
          <p:cNvSpPr/>
          <p:nvPr/>
        </p:nvSpPr>
        <p:spPr>
          <a:xfrm>
            <a:off x="2834640" y="1783080"/>
            <a:ext cx="178308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16" name="s4_tblh2_92"/>
          <p:cNvSpPr/>
          <p:nvPr/>
        </p:nvSpPr>
        <p:spPr>
          <a:xfrm>
            <a:off x="2834640" y="1965960"/>
            <a:ext cx="1783080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7" name="s4_t_93"/>
          <p:cNvSpPr txBox="1"/>
          <p:nvPr/>
        </p:nvSpPr>
        <p:spPr>
          <a:xfrm>
            <a:off x="29077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1100" dirty="0"/>
          </a:p>
        </p:txBody>
      </p:sp>
      <p:sp>
        <p:nvSpPr>
          <p:cNvPr id="18" name="s4_t_94"/>
          <p:cNvSpPr txBox="1"/>
          <p:nvPr/>
        </p:nvSpPr>
        <p:spPr>
          <a:xfrm>
            <a:off x="292608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19" name="s4_t_95"/>
          <p:cNvSpPr txBox="1"/>
          <p:nvPr/>
        </p:nvSpPr>
        <p:spPr>
          <a:xfrm>
            <a:off x="4160520" y="21945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</a:t>
            </a:r>
            <a:endParaRPr lang="en-US" sz="850" dirty="0"/>
          </a:p>
        </p:txBody>
      </p:sp>
      <p:sp>
        <p:nvSpPr>
          <p:cNvPr id="20" name="s4_t_96"/>
          <p:cNvSpPr txBox="1"/>
          <p:nvPr/>
        </p:nvSpPr>
        <p:spPr>
          <a:xfrm>
            <a:off x="2926080" y="2441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id_cliente</a:t>
            </a:r>
            <a:endParaRPr lang="en-US" sz="1000" dirty="0"/>
          </a:p>
        </p:txBody>
      </p:sp>
      <p:sp>
        <p:nvSpPr>
          <p:cNvPr id="21" name="s4_t_97"/>
          <p:cNvSpPr txBox="1"/>
          <p:nvPr/>
        </p:nvSpPr>
        <p:spPr>
          <a:xfrm>
            <a:off x="4160520" y="2441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3"/>
                </a:solidFill>
              </a:rPr>
              <a:t>FK</a:t>
            </a:r>
            <a:endParaRPr lang="en-US" sz="850" dirty="0"/>
          </a:p>
        </p:txBody>
      </p:sp>
      <p:sp>
        <p:nvSpPr>
          <p:cNvPr id="22" name="s4_t_98"/>
          <p:cNvSpPr txBox="1"/>
          <p:nvPr/>
        </p:nvSpPr>
        <p:spPr>
          <a:xfrm>
            <a:off x="2926080" y="2688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000" dirty="0"/>
          </a:p>
        </p:txBody>
      </p:sp>
      <p:sp>
        <p:nvSpPr>
          <p:cNvPr id="23" name="s4_t_99"/>
          <p:cNvSpPr txBox="1"/>
          <p:nvPr/>
        </p:nvSpPr>
        <p:spPr>
          <a:xfrm>
            <a:off x="2926080" y="2935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000" dirty="0"/>
          </a:p>
        </p:txBody>
      </p:sp>
      <p:sp>
        <p:nvSpPr>
          <p:cNvPr id="24" name="s4_tbl_100"/>
          <p:cNvSpPr/>
          <p:nvPr/>
        </p:nvSpPr>
        <p:spPr>
          <a:xfrm>
            <a:off x="5120640" y="1783080"/>
            <a:ext cx="1783080" cy="1408176"/>
          </a:xfrm>
          <a:prstGeom prst="roundRect">
            <a:avLst>
              <a:gd name="adj" fmla="val 519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25" name="s4_tblh_101"/>
          <p:cNvSpPr/>
          <p:nvPr/>
        </p:nvSpPr>
        <p:spPr>
          <a:xfrm>
            <a:off x="5120640" y="1783080"/>
            <a:ext cx="178308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26" name="s4_tblh2_102"/>
          <p:cNvSpPr/>
          <p:nvPr/>
        </p:nvSpPr>
        <p:spPr>
          <a:xfrm>
            <a:off x="5120640" y="1965960"/>
            <a:ext cx="1783080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7" name="s4_t_103"/>
          <p:cNvSpPr txBox="1"/>
          <p:nvPr/>
        </p:nvSpPr>
        <p:spPr>
          <a:xfrm>
            <a:off x="51937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DETALLE_PEDIDO</a:t>
            </a:r>
            <a:endParaRPr lang="en-US" sz="1100" dirty="0"/>
          </a:p>
        </p:txBody>
      </p:sp>
      <p:sp>
        <p:nvSpPr>
          <p:cNvPr id="28" name="s4_t_104"/>
          <p:cNvSpPr txBox="1"/>
          <p:nvPr/>
        </p:nvSpPr>
        <p:spPr>
          <a:xfrm>
            <a:off x="521208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id_pedido</a:t>
            </a:r>
            <a:endParaRPr lang="en-US" sz="1000" dirty="0"/>
          </a:p>
        </p:txBody>
      </p:sp>
      <p:sp>
        <p:nvSpPr>
          <p:cNvPr id="29" name="s4_t_105"/>
          <p:cNvSpPr txBox="1"/>
          <p:nvPr/>
        </p:nvSpPr>
        <p:spPr>
          <a:xfrm>
            <a:off x="6446520" y="21945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 FK</a:t>
            </a:r>
            <a:endParaRPr lang="en-US" sz="850" dirty="0"/>
          </a:p>
        </p:txBody>
      </p:sp>
      <p:sp>
        <p:nvSpPr>
          <p:cNvPr id="30" name="s4_t_106"/>
          <p:cNvSpPr txBox="1"/>
          <p:nvPr/>
        </p:nvSpPr>
        <p:spPr>
          <a:xfrm>
            <a:off x="5212080" y="2441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000" dirty="0"/>
          </a:p>
        </p:txBody>
      </p:sp>
      <p:sp>
        <p:nvSpPr>
          <p:cNvPr id="31" name="s4_t_107"/>
          <p:cNvSpPr txBox="1"/>
          <p:nvPr/>
        </p:nvSpPr>
        <p:spPr>
          <a:xfrm>
            <a:off x="6446520" y="2441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 FK</a:t>
            </a:r>
            <a:endParaRPr lang="en-US" sz="850" dirty="0"/>
          </a:p>
        </p:txBody>
      </p:sp>
      <p:sp>
        <p:nvSpPr>
          <p:cNvPr id="32" name="s4_t_108"/>
          <p:cNvSpPr txBox="1"/>
          <p:nvPr/>
        </p:nvSpPr>
        <p:spPr>
          <a:xfrm>
            <a:off x="5212080" y="2688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000" dirty="0"/>
          </a:p>
        </p:txBody>
      </p:sp>
      <p:sp>
        <p:nvSpPr>
          <p:cNvPr id="33" name="s4_t_109"/>
          <p:cNvSpPr txBox="1"/>
          <p:nvPr/>
        </p:nvSpPr>
        <p:spPr>
          <a:xfrm>
            <a:off x="5212080" y="2935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precio_unit</a:t>
            </a:r>
            <a:endParaRPr lang="en-US" sz="1000" dirty="0"/>
          </a:p>
        </p:txBody>
      </p:sp>
      <p:sp>
        <p:nvSpPr>
          <p:cNvPr id="34" name="s4_tbl_110"/>
          <p:cNvSpPr/>
          <p:nvPr/>
        </p:nvSpPr>
        <p:spPr>
          <a:xfrm>
            <a:off x="7406640" y="1783080"/>
            <a:ext cx="1783080" cy="1408176"/>
          </a:xfrm>
          <a:prstGeom prst="roundRect">
            <a:avLst>
              <a:gd name="adj" fmla="val 519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35" name="s4_tblh_111"/>
          <p:cNvSpPr/>
          <p:nvPr/>
        </p:nvSpPr>
        <p:spPr>
          <a:xfrm>
            <a:off x="7406640" y="1783080"/>
            <a:ext cx="178308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36" name="s4_tblh2_112"/>
          <p:cNvSpPr/>
          <p:nvPr/>
        </p:nvSpPr>
        <p:spPr>
          <a:xfrm>
            <a:off x="7406640" y="1965960"/>
            <a:ext cx="1783080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7" name="s4_t_113"/>
          <p:cNvSpPr txBox="1"/>
          <p:nvPr/>
        </p:nvSpPr>
        <p:spPr>
          <a:xfrm>
            <a:off x="74797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PRODUCTOS</a:t>
            </a:r>
            <a:endParaRPr lang="en-US" sz="1100" dirty="0"/>
          </a:p>
        </p:txBody>
      </p:sp>
      <p:sp>
        <p:nvSpPr>
          <p:cNvPr id="38" name="s4_t_114"/>
          <p:cNvSpPr txBox="1"/>
          <p:nvPr/>
        </p:nvSpPr>
        <p:spPr>
          <a:xfrm>
            <a:off x="749808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000" dirty="0"/>
          </a:p>
        </p:txBody>
      </p:sp>
      <p:sp>
        <p:nvSpPr>
          <p:cNvPr id="39" name="s4_t_115"/>
          <p:cNvSpPr txBox="1"/>
          <p:nvPr/>
        </p:nvSpPr>
        <p:spPr>
          <a:xfrm>
            <a:off x="8732520" y="21945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</a:t>
            </a:r>
            <a:endParaRPr lang="en-US" sz="850" dirty="0"/>
          </a:p>
        </p:txBody>
      </p:sp>
      <p:sp>
        <p:nvSpPr>
          <p:cNvPr id="40" name="s4_t_116"/>
          <p:cNvSpPr txBox="1"/>
          <p:nvPr/>
        </p:nvSpPr>
        <p:spPr>
          <a:xfrm>
            <a:off x="7498080" y="2441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id_categoria</a:t>
            </a:r>
            <a:endParaRPr lang="en-US" sz="1000" dirty="0"/>
          </a:p>
        </p:txBody>
      </p:sp>
      <p:sp>
        <p:nvSpPr>
          <p:cNvPr id="41" name="s4_t_117"/>
          <p:cNvSpPr txBox="1"/>
          <p:nvPr/>
        </p:nvSpPr>
        <p:spPr>
          <a:xfrm>
            <a:off x="8732520" y="2441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3"/>
                </a:solidFill>
              </a:rPr>
              <a:t>FK</a:t>
            </a:r>
            <a:endParaRPr lang="en-US" sz="850" dirty="0"/>
          </a:p>
        </p:txBody>
      </p:sp>
      <p:sp>
        <p:nvSpPr>
          <p:cNvPr id="42" name="s4_t_118"/>
          <p:cNvSpPr txBox="1"/>
          <p:nvPr/>
        </p:nvSpPr>
        <p:spPr>
          <a:xfrm>
            <a:off x="7498080" y="2688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nombre_producto</a:t>
            </a:r>
            <a:endParaRPr lang="en-US" sz="1000" dirty="0"/>
          </a:p>
        </p:txBody>
      </p:sp>
      <p:sp>
        <p:nvSpPr>
          <p:cNvPr id="43" name="s4_t_119"/>
          <p:cNvSpPr txBox="1"/>
          <p:nvPr/>
        </p:nvSpPr>
        <p:spPr>
          <a:xfrm>
            <a:off x="7498080" y="2935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endParaRPr lang="en-US" sz="1000" dirty="0"/>
          </a:p>
        </p:txBody>
      </p:sp>
      <p:sp>
        <p:nvSpPr>
          <p:cNvPr id="44" name="s4_tbl_120"/>
          <p:cNvSpPr/>
          <p:nvPr/>
        </p:nvSpPr>
        <p:spPr>
          <a:xfrm>
            <a:off x="9692640" y="1783080"/>
            <a:ext cx="178308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45" name="s4_tblh_121"/>
          <p:cNvSpPr/>
          <p:nvPr/>
        </p:nvSpPr>
        <p:spPr>
          <a:xfrm>
            <a:off x="9692640" y="1783080"/>
            <a:ext cx="178308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46" name="s4_tblh2_122"/>
          <p:cNvSpPr/>
          <p:nvPr/>
        </p:nvSpPr>
        <p:spPr>
          <a:xfrm>
            <a:off x="9692640" y="1965960"/>
            <a:ext cx="1783080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7" name="s4_t_123"/>
          <p:cNvSpPr txBox="1"/>
          <p:nvPr/>
        </p:nvSpPr>
        <p:spPr>
          <a:xfrm>
            <a:off x="9765792" y="178308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</a:t>
            </a:r>
            <a:endParaRPr lang="en-US" sz="1100" dirty="0"/>
          </a:p>
        </p:txBody>
      </p:sp>
      <p:sp>
        <p:nvSpPr>
          <p:cNvPr id="48" name="s4_t_124"/>
          <p:cNvSpPr txBox="1"/>
          <p:nvPr/>
        </p:nvSpPr>
        <p:spPr>
          <a:xfrm>
            <a:off x="9784080" y="2194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id_categoria</a:t>
            </a:r>
            <a:endParaRPr lang="en-US" sz="1000" dirty="0"/>
          </a:p>
        </p:txBody>
      </p:sp>
      <p:sp>
        <p:nvSpPr>
          <p:cNvPr id="49" name="s4_t_125"/>
          <p:cNvSpPr txBox="1"/>
          <p:nvPr/>
        </p:nvSpPr>
        <p:spPr>
          <a:xfrm>
            <a:off x="11018520" y="219456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</a:t>
            </a:r>
            <a:endParaRPr lang="en-US" sz="850" dirty="0"/>
          </a:p>
        </p:txBody>
      </p:sp>
      <p:sp>
        <p:nvSpPr>
          <p:cNvPr id="50" name="s4_t_126"/>
          <p:cNvSpPr txBox="1"/>
          <p:nvPr/>
        </p:nvSpPr>
        <p:spPr>
          <a:xfrm>
            <a:off x="9784080" y="244144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nombre_categoria</a:t>
            </a:r>
            <a:endParaRPr lang="en-US" sz="1000" dirty="0"/>
          </a:p>
        </p:txBody>
      </p:sp>
      <p:sp>
        <p:nvSpPr>
          <p:cNvPr id="51" name="s4_tbl_127"/>
          <p:cNvSpPr/>
          <p:nvPr/>
        </p:nvSpPr>
        <p:spPr>
          <a:xfrm>
            <a:off x="2834640" y="4023360"/>
            <a:ext cx="1783080" cy="1408176"/>
          </a:xfrm>
          <a:prstGeom prst="roundRect">
            <a:avLst>
              <a:gd name="adj" fmla="val 519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52" name="s4_tblh_128"/>
          <p:cNvSpPr/>
          <p:nvPr/>
        </p:nvSpPr>
        <p:spPr>
          <a:xfrm>
            <a:off x="2834640" y="4023360"/>
            <a:ext cx="178308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</p:sp>
      <p:sp>
        <p:nvSpPr>
          <p:cNvPr id="53" name="s4_tblh2_129"/>
          <p:cNvSpPr/>
          <p:nvPr/>
        </p:nvSpPr>
        <p:spPr>
          <a:xfrm>
            <a:off x="2834640" y="4206240"/>
            <a:ext cx="1783080" cy="16459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4" name="s4_t_130"/>
          <p:cNvSpPr txBox="1"/>
          <p:nvPr/>
        </p:nvSpPr>
        <p:spPr>
          <a:xfrm>
            <a:off x="2907792" y="402336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AUDITORIA_INGREDIENTES</a:t>
            </a:r>
            <a:endParaRPr lang="en-US" sz="950" dirty="0"/>
          </a:p>
        </p:txBody>
      </p:sp>
      <p:sp>
        <p:nvSpPr>
          <p:cNvPr id="55" name="s4_t_131"/>
          <p:cNvSpPr txBox="1"/>
          <p:nvPr/>
        </p:nvSpPr>
        <p:spPr>
          <a:xfrm>
            <a:off x="29260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id_auditoria</a:t>
            </a:r>
            <a:endParaRPr lang="en-US" sz="1000" dirty="0"/>
          </a:p>
        </p:txBody>
      </p:sp>
      <p:sp>
        <p:nvSpPr>
          <p:cNvPr id="56" name="s4_t_132"/>
          <p:cNvSpPr txBox="1"/>
          <p:nvPr/>
        </p:nvSpPr>
        <p:spPr>
          <a:xfrm>
            <a:off x="4160520" y="44348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</a:t>
            </a:r>
            <a:endParaRPr lang="en-US" sz="850" dirty="0"/>
          </a:p>
        </p:txBody>
      </p:sp>
      <p:sp>
        <p:nvSpPr>
          <p:cNvPr id="57" name="s4_t_133"/>
          <p:cNvSpPr txBox="1"/>
          <p:nvPr/>
        </p:nvSpPr>
        <p:spPr>
          <a:xfrm>
            <a:off x="2926080" y="4681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</a:t>
            </a:r>
            <a:endParaRPr lang="en-US" sz="1000" dirty="0"/>
          </a:p>
        </p:txBody>
      </p:sp>
      <p:sp>
        <p:nvSpPr>
          <p:cNvPr id="58" name="s4_t_134"/>
          <p:cNvSpPr txBox="1"/>
          <p:nvPr/>
        </p:nvSpPr>
        <p:spPr>
          <a:xfrm>
            <a:off x="2926080" y="4928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000" dirty="0"/>
          </a:p>
        </p:txBody>
      </p:sp>
      <p:sp>
        <p:nvSpPr>
          <p:cNvPr id="59" name="s4_t_135"/>
          <p:cNvSpPr txBox="1"/>
          <p:nvPr/>
        </p:nvSpPr>
        <p:spPr>
          <a:xfrm>
            <a:off x="2926080" y="51755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operacion</a:t>
            </a:r>
            <a:endParaRPr lang="en-US" sz="1000" dirty="0"/>
          </a:p>
        </p:txBody>
      </p:sp>
      <p:sp>
        <p:nvSpPr>
          <p:cNvPr id="60" name="s4_tbl_136"/>
          <p:cNvSpPr/>
          <p:nvPr/>
        </p:nvSpPr>
        <p:spPr>
          <a:xfrm>
            <a:off x="5120640" y="4023360"/>
            <a:ext cx="1783080" cy="1408176"/>
          </a:xfrm>
          <a:prstGeom prst="roundRect">
            <a:avLst>
              <a:gd name="adj" fmla="val 519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61" name="s4_tblh_137"/>
          <p:cNvSpPr/>
          <p:nvPr/>
        </p:nvSpPr>
        <p:spPr>
          <a:xfrm>
            <a:off x="5120640" y="4023360"/>
            <a:ext cx="178308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62" name="s4_tblh2_138"/>
          <p:cNvSpPr/>
          <p:nvPr/>
        </p:nvSpPr>
        <p:spPr>
          <a:xfrm>
            <a:off x="5120640" y="4206240"/>
            <a:ext cx="1783080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3" name="s4_t_139"/>
          <p:cNvSpPr txBox="1"/>
          <p:nvPr/>
        </p:nvSpPr>
        <p:spPr>
          <a:xfrm>
            <a:off x="5193792" y="402336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INGREDIENTES</a:t>
            </a:r>
            <a:endParaRPr lang="en-US" sz="1100" dirty="0"/>
          </a:p>
        </p:txBody>
      </p:sp>
      <p:sp>
        <p:nvSpPr>
          <p:cNvPr id="64" name="s4_t_140"/>
          <p:cNvSpPr txBox="1"/>
          <p:nvPr/>
        </p:nvSpPr>
        <p:spPr>
          <a:xfrm>
            <a:off x="52120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id_ingrediente</a:t>
            </a:r>
            <a:endParaRPr lang="en-US" sz="1000" dirty="0"/>
          </a:p>
        </p:txBody>
      </p:sp>
      <p:sp>
        <p:nvSpPr>
          <p:cNvPr id="65" name="s4_t_141"/>
          <p:cNvSpPr txBox="1"/>
          <p:nvPr/>
        </p:nvSpPr>
        <p:spPr>
          <a:xfrm>
            <a:off x="6446520" y="44348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</a:t>
            </a:r>
            <a:endParaRPr lang="en-US" sz="850" dirty="0"/>
          </a:p>
        </p:txBody>
      </p:sp>
      <p:sp>
        <p:nvSpPr>
          <p:cNvPr id="66" name="s4_t_142"/>
          <p:cNvSpPr txBox="1"/>
          <p:nvPr/>
        </p:nvSpPr>
        <p:spPr>
          <a:xfrm>
            <a:off x="5212080" y="4681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nombre_ingrediente</a:t>
            </a:r>
            <a:endParaRPr lang="en-US" sz="1000" dirty="0"/>
          </a:p>
        </p:txBody>
      </p:sp>
      <p:sp>
        <p:nvSpPr>
          <p:cNvPr id="67" name="s4_t_143"/>
          <p:cNvSpPr txBox="1"/>
          <p:nvPr/>
        </p:nvSpPr>
        <p:spPr>
          <a:xfrm>
            <a:off x="5212080" y="4928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stock_actual</a:t>
            </a:r>
            <a:endParaRPr lang="en-US" sz="1000" dirty="0"/>
          </a:p>
        </p:txBody>
      </p:sp>
      <p:sp>
        <p:nvSpPr>
          <p:cNvPr id="68" name="s4_t_144"/>
          <p:cNvSpPr txBox="1"/>
          <p:nvPr/>
        </p:nvSpPr>
        <p:spPr>
          <a:xfrm>
            <a:off x="5212080" y="51755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stock_minimo</a:t>
            </a:r>
            <a:endParaRPr lang="en-US" sz="1000" dirty="0"/>
          </a:p>
        </p:txBody>
      </p:sp>
      <p:sp>
        <p:nvSpPr>
          <p:cNvPr id="69" name="s4_tbl_145"/>
          <p:cNvSpPr/>
          <p:nvPr/>
        </p:nvSpPr>
        <p:spPr>
          <a:xfrm>
            <a:off x="7406640" y="4023360"/>
            <a:ext cx="1783080" cy="1161288"/>
          </a:xfrm>
          <a:prstGeom prst="roundRect">
            <a:avLst>
              <a:gd name="adj" fmla="val 629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70" name="s4_tblh_146"/>
          <p:cNvSpPr/>
          <p:nvPr/>
        </p:nvSpPr>
        <p:spPr>
          <a:xfrm>
            <a:off x="7406640" y="4023360"/>
            <a:ext cx="1783080" cy="347472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71" name="s4_tblh2_147"/>
          <p:cNvSpPr/>
          <p:nvPr/>
        </p:nvSpPr>
        <p:spPr>
          <a:xfrm>
            <a:off x="7406640" y="4206240"/>
            <a:ext cx="1783080" cy="164592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2" name="s4_t_148"/>
          <p:cNvSpPr txBox="1"/>
          <p:nvPr/>
        </p:nvSpPr>
        <p:spPr>
          <a:xfrm>
            <a:off x="7479792" y="4023360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PRODUCTO_INGREDIENTE</a:t>
            </a:r>
            <a:endParaRPr lang="en-US" sz="950" dirty="0"/>
          </a:p>
        </p:txBody>
      </p:sp>
      <p:sp>
        <p:nvSpPr>
          <p:cNvPr id="73" name="s4_t_149"/>
          <p:cNvSpPr txBox="1"/>
          <p:nvPr/>
        </p:nvSpPr>
        <p:spPr>
          <a:xfrm>
            <a:off x="7498080" y="44348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id_producto</a:t>
            </a:r>
            <a:endParaRPr lang="en-US" sz="1000" dirty="0"/>
          </a:p>
        </p:txBody>
      </p:sp>
      <p:sp>
        <p:nvSpPr>
          <p:cNvPr id="74" name="s4_t_150"/>
          <p:cNvSpPr txBox="1"/>
          <p:nvPr/>
        </p:nvSpPr>
        <p:spPr>
          <a:xfrm>
            <a:off x="8732520" y="443484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 FK</a:t>
            </a:r>
            <a:endParaRPr lang="en-US" sz="850" dirty="0"/>
          </a:p>
        </p:txBody>
      </p:sp>
      <p:sp>
        <p:nvSpPr>
          <p:cNvPr id="75" name="s4_t_151"/>
          <p:cNvSpPr txBox="1"/>
          <p:nvPr/>
        </p:nvSpPr>
        <p:spPr>
          <a:xfrm>
            <a:off x="7498080" y="46817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id_ingrediente</a:t>
            </a:r>
            <a:endParaRPr lang="en-US" sz="1000" dirty="0"/>
          </a:p>
        </p:txBody>
      </p:sp>
      <p:sp>
        <p:nvSpPr>
          <p:cNvPr id="76" name="s4_t_152"/>
          <p:cNvSpPr txBox="1"/>
          <p:nvPr/>
        </p:nvSpPr>
        <p:spPr>
          <a:xfrm>
            <a:off x="8732520" y="468172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chemeClr val="accent1"/>
                </a:solidFill>
              </a:rPr>
              <a:t>PK FK</a:t>
            </a:r>
            <a:endParaRPr lang="en-US" sz="850" dirty="0"/>
          </a:p>
        </p:txBody>
      </p:sp>
      <p:sp>
        <p:nvSpPr>
          <p:cNvPr id="77" name="s4_t_153"/>
          <p:cNvSpPr txBox="1"/>
          <p:nvPr/>
        </p:nvSpPr>
        <p:spPr>
          <a:xfrm>
            <a:off x="7498080" y="492861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cantidad_requerida</a:t>
            </a:r>
            <a:endParaRPr lang="en-US" sz="1000" dirty="0"/>
          </a:p>
        </p:txBody>
      </p:sp>
      <p:sp>
        <p:nvSpPr>
          <p:cNvPr id="78" name="s4_rel_154"/>
          <p:cNvSpPr/>
          <p:nvPr/>
        </p:nvSpPr>
        <p:spPr>
          <a:xfrm>
            <a:off x="2331720" y="269748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79" name="s4_t_155"/>
          <p:cNvSpPr txBox="1"/>
          <p:nvPr/>
        </p:nvSpPr>
        <p:spPr>
          <a:xfrm>
            <a:off x="233172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80" name="s4_t_156"/>
          <p:cNvSpPr txBox="1"/>
          <p:nvPr/>
        </p:nvSpPr>
        <p:spPr>
          <a:xfrm>
            <a:off x="256032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</a:t>
            </a:r>
            <a:endParaRPr lang="en-US" sz="1000" dirty="0"/>
          </a:p>
        </p:txBody>
      </p:sp>
      <p:sp>
        <p:nvSpPr>
          <p:cNvPr id="81" name="s4_rel_157"/>
          <p:cNvSpPr/>
          <p:nvPr/>
        </p:nvSpPr>
        <p:spPr>
          <a:xfrm>
            <a:off x="4617720" y="269748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2" name="s4_t_158"/>
          <p:cNvSpPr txBox="1"/>
          <p:nvPr/>
        </p:nvSpPr>
        <p:spPr>
          <a:xfrm>
            <a:off x="461772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83" name="s4_t_159"/>
          <p:cNvSpPr txBox="1"/>
          <p:nvPr/>
        </p:nvSpPr>
        <p:spPr>
          <a:xfrm>
            <a:off x="484632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</a:t>
            </a:r>
            <a:endParaRPr lang="en-US" sz="1000" dirty="0"/>
          </a:p>
        </p:txBody>
      </p:sp>
      <p:sp>
        <p:nvSpPr>
          <p:cNvPr id="84" name="s4_rel_160"/>
          <p:cNvSpPr/>
          <p:nvPr/>
        </p:nvSpPr>
        <p:spPr>
          <a:xfrm>
            <a:off x="6903720" y="269748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5" name="s4_t_161"/>
          <p:cNvSpPr txBox="1"/>
          <p:nvPr/>
        </p:nvSpPr>
        <p:spPr>
          <a:xfrm>
            <a:off x="690372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</a:t>
            </a:r>
            <a:endParaRPr lang="en-US" sz="1000" dirty="0"/>
          </a:p>
        </p:txBody>
      </p:sp>
      <p:sp>
        <p:nvSpPr>
          <p:cNvPr id="86" name="s4_t_162"/>
          <p:cNvSpPr txBox="1"/>
          <p:nvPr/>
        </p:nvSpPr>
        <p:spPr>
          <a:xfrm>
            <a:off x="713232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87" name="s4_rel_163"/>
          <p:cNvSpPr/>
          <p:nvPr/>
        </p:nvSpPr>
        <p:spPr>
          <a:xfrm>
            <a:off x="9189720" y="269748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8" name="s4_t_164"/>
          <p:cNvSpPr txBox="1"/>
          <p:nvPr/>
        </p:nvSpPr>
        <p:spPr>
          <a:xfrm>
            <a:off x="918972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</a:t>
            </a:r>
            <a:endParaRPr lang="en-US" sz="1000" dirty="0"/>
          </a:p>
        </p:txBody>
      </p:sp>
      <p:sp>
        <p:nvSpPr>
          <p:cNvPr id="89" name="s4_t_165"/>
          <p:cNvSpPr txBox="1"/>
          <p:nvPr/>
        </p:nvSpPr>
        <p:spPr>
          <a:xfrm>
            <a:off x="9418320" y="24505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90" name="s4_rel_166"/>
          <p:cNvSpPr/>
          <p:nvPr/>
        </p:nvSpPr>
        <p:spPr>
          <a:xfrm>
            <a:off x="8298180" y="3191256"/>
            <a:ext cx="0" cy="83210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91" name="s4_t_167"/>
          <p:cNvSpPr txBox="1"/>
          <p:nvPr/>
        </p:nvSpPr>
        <p:spPr>
          <a:xfrm>
            <a:off x="8316468" y="32095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92" name="s4_t_168"/>
          <p:cNvSpPr txBox="1"/>
          <p:nvPr/>
        </p:nvSpPr>
        <p:spPr>
          <a:xfrm>
            <a:off x="8316468" y="37856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</a:t>
            </a:r>
            <a:endParaRPr lang="en-US" sz="1000" dirty="0"/>
          </a:p>
        </p:txBody>
      </p:sp>
      <p:sp>
        <p:nvSpPr>
          <p:cNvPr id="93" name="s4_rel_169"/>
          <p:cNvSpPr/>
          <p:nvPr/>
        </p:nvSpPr>
        <p:spPr>
          <a:xfrm>
            <a:off x="6903720" y="4892040"/>
            <a:ext cx="5029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94" name="s4_t_170"/>
          <p:cNvSpPr txBox="1"/>
          <p:nvPr/>
        </p:nvSpPr>
        <p:spPr>
          <a:xfrm>
            <a:off x="6903720" y="4645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</a:t>
            </a:r>
            <a:endParaRPr lang="en-US" sz="1000" dirty="0"/>
          </a:p>
        </p:txBody>
      </p:sp>
      <p:sp>
        <p:nvSpPr>
          <p:cNvPr id="95" name="s4_t_171"/>
          <p:cNvSpPr txBox="1"/>
          <p:nvPr/>
        </p:nvSpPr>
        <p:spPr>
          <a:xfrm>
            <a:off x="7132320" y="46451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N</a:t>
            </a:r>
            <a:endParaRPr lang="en-US" sz="1000" dirty="0"/>
          </a:p>
        </p:txBody>
      </p:sp>
      <p:sp>
        <p:nvSpPr>
          <p:cNvPr id="96" name="s4_rel_172"/>
          <p:cNvSpPr/>
          <p:nvPr/>
        </p:nvSpPr>
        <p:spPr>
          <a:xfrm>
            <a:off x="4617720" y="4892040"/>
            <a:ext cx="50292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dash"/>
          </a:ln>
        </p:spPr>
      </p:sp>
      <p:sp>
        <p:nvSpPr>
          <p:cNvPr id="97" name="s4_chip_173"/>
          <p:cNvSpPr/>
          <p:nvPr/>
        </p:nvSpPr>
        <p:spPr>
          <a:xfrm>
            <a:off x="4572000" y="5074920"/>
            <a:ext cx="59436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98" name="s4_t_174"/>
          <p:cNvSpPr txBox="1"/>
          <p:nvPr/>
        </p:nvSpPr>
        <p:spPr>
          <a:xfrm>
            <a:off x="4572000" y="50749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trigger</a:t>
            </a:r>
            <a:endParaRPr lang="en-US" sz="900" dirty="0"/>
          </a:p>
        </p:txBody>
      </p:sp>
      <p:sp>
        <p:nvSpPr>
          <p:cNvPr id="99" name="s4_card_175"/>
          <p:cNvSpPr/>
          <p:nvPr/>
        </p:nvSpPr>
        <p:spPr>
          <a:xfrm>
            <a:off x="9692640" y="402336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0" name="s4_t_176"/>
          <p:cNvSpPr txBox="1"/>
          <p:nvPr/>
        </p:nvSpPr>
        <p:spPr>
          <a:xfrm>
            <a:off x="9829800" y="4133088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PK  </a:t>
            </a:r>
            <a:r>
              <a:rPr lang="en-US" sz="1050" dirty="0">
                <a:solidFill>
                  <a:schemeClr val="tx2"/>
                </a:solidFill>
              </a:rPr>
              <a:t>clave primaria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chemeClr val="accent3"/>
                </a:solidFill>
              </a:rPr>
              <a:t>FK  </a:t>
            </a:r>
            <a:r>
              <a:rPr lang="en-US" sz="1050" dirty="0">
                <a:solidFill>
                  <a:schemeClr val="tx2"/>
                </a:solidFill>
              </a:rPr>
              <a:t>clave foránea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chemeClr val="accent1"/>
                </a:solidFill>
              </a:rPr>
              <a:t>1 — N  </a:t>
            </a:r>
            <a:r>
              <a:rPr lang="en-US" sz="1050" dirty="0">
                <a:solidFill>
                  <a:schemeClr val="tx2"/>
                </a:solidFill>
              </a:rPr>
              <a:t>uno a muchos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chemeClr val="accent2"/>
                </a:solidFill>
              </a:rPr>
              <a:t>- - -  </a:t>
            </a:r>
            <a:r>
              <a:rPr lang="en-US" sz="1050" dirty="0">
                <a:solidFill>
                  <a:schemeClr val="tx2"/>
                </a:solidFill>
              </a:rPr>
              <a:t>escribe un trigger</a:t>
            </a:r>
            <a:endParaRPr lang="en-US" sz="1050" dirty="0"/>
          </a:p>
        </p:txBody>
      </p:sp>
      <p:sp>
        <p:nvSpPr>
          <p:cNvPr id="101" name="s4_ban_177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8182"/>
            </a:avLst>
          </a:prstGeom>
          <a:solidFill>
            <a:schemeClr val="accent5"/>
          </a:solidFill>
          <a:ln/>
        </p:spPr>
      </p:sp>
      <p:sp>
        <p:nvSpPr>
          <p:cNvPr id="102" name="s4_t_178"/>
          <p:cNvSpPr txBox="1"/>
          <p:nvPr/>
        </p:nvSpPr>
        <p:spPr>
          <a:xfrm>
            <a:off x="822960" y="576072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Receta: </a:t>
            </a:r>
            <a:r>
              <a:rPr lang="en-US" sz="1250" dirty="0">
                <a:solidFill>
                  <a:schemeClr val="tx1"/>
                </a:solidFill>
              </a:rPr>
              <a:t>PRODUCTO_INGREDIENTE dice cuánto de cada ingrediente lleva un producto. Es la base del descuento de inventario.</a:t>
            </a:r>
            <a:endParaRPr lang="en-US" sz="1250" dirty="0"/>
          </a:p>
        </p:txBody>
      </p:sp>
      <p:sp>
        <p:nvSpPr>
          <p:cNvPr id="10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600"/>
                            </p:stCondLst>
                            <p:childTnLst>
                              <p:par>
                                <p:cTn id="82" presetID="2" presetClass="entr" presetSubtype="4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15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6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6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6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6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6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6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1850"/>
                            </p:stCondLst>
                            <p:childTnLst>
                              <p:par>
                                <p:cTn id="249" presetID="2" presetClass="entr" presetSubtype="4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2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3100"/>
                            </p:stCondLst>
                            <p:childTnLst>
                              <p:par>
                                <p:cTn id="362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7" grpId="0" animBg="1"/>
      <p:bldP spid="48" grpId="0" animBg="1"/>
      <p:bldP spid="49" grpId="0" animBg="1"/>
      <p:bldP spid="50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9" grpId="0" animBg="1"/>
      <p:bldP spid="80" grpId="0" animBg="1"/>
      <p:bldP spid="82" grpId="0" animBg="1"/>
      <p:bldP spid="83" grpId="0" animBg="1"/>
      <p:bldP spid="85" grpId="0" animBg="1"/>
      <p:bldP spid="86" grpId="0" animBg="1"/>
      <p:bldP spid="88" grpId="0" animBg="1"/>
      <p:bldP spid="89" grpId="0" animBg="1"/>
      <p:bldP spid="91" grpId="0" animBg="1"/>
      <p:bldP spid="92" grpId="0" animBg="1"/>
      <p:bldP spid="94" grpId="0" animBg="1"/>
      <p:bldP spid="95" grpId="0" animBg="1"/>
      <p:bldP spid="98" grpId="0" animBg="1"/>
      <p:bldP spid="100" grpId="0" animBg="1"/>
      <p:bldP spid="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04  |  ARQUITECTURA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se reparte la responsabilidad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Cada objeto de la base de datos tiene una tarea clara.</a:t>
            </a:r>
            <a:endParaRPr lang="en-US" sz="1400" dirty="0"/>
          </a:p>
        </p:txBody>
      </p:sp>
      <p:sp>
        <p:nvSpPr>
          <p:cNvPr id="5" name="s5_pkg_179"/>
          <p:cNvSpPr/>
          <p:nvPr/>
        </p:nvSpPr>
        <p:spPr>
          <a:xfrm>
            <a:off x="548640" y="1783080"/>
            <a:ext cx="3840480" cy="3154680"/>
          </a:xfrm>
          <a:prstGeom prst="roundRect">
            <a:avLst>
              <a:gd name="adj" fmla="val 4058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dash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6" name="s5_t_180"/>
          <p:cNvSpPr txBox="1"/>
          <p:nvPr/>
        </p:nvSpPr>
        <p:spPr>
          <a:xfrm>
            <a:off x="777240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PACKAGE</a:t>
            </a:r>
            <a:endParaRPr lang="en-US" sz="900" dirty="0"/>
          </a:p>
        </p:txBody>
      </p:sp>
      <p:sp>
        <p:nvSpPr>
          <p:cNvPr id="7" name="s5_t_181"/>
          <p:cNvSpPr txBox="1"/>
          <p:nvPr/>
        </p:nvSpPr>
        <p:spPr>
          <a:xfrm>
            <a:off x="777240" y="2130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PKG_EL_MEO_DIENTE</a:t>
            </a:r>
            <a:endParaRPr lang="en-US" sz="1500" dirty="0"/>
          </a:p>
        </p:txBody>
      </p:sp>
      <p:sp>
        <p:nvSpPr>
          <p:cNvPr id="8" name="s5_sub_182"/>
          <p:cNvSpPr/>
          <p:nvPr/>
        </p:nvSpPr>
        <p:spPr>
          <a:xfrm>
            <a:off x="731520" y="2606040"/>
            <a:ext cx="3474720" cy="658368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</p:sp>
      <p:sp>
        <p:nvSpPr>
          <p:cNvPr id="9" name="s5_t_183"/>
          <p:cNvSpPr txBox="1"/>
          <p:nvPr/>
        </p:nvSpPr>
        <p:spPr>
          <a:xfrm>
            <a:off x="896112" y="26060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SP_CONFIRMAR_PEDIDO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Valida y cambia el estado</a:t>
            </a:r>
            <a:endParaRPr lang="en-US" sz="1400" dirty="0"/>
          </a:p>
        </p:txBody>
      </p:sp>
      <p:sp>
        <p:nvSpPr>
          <p:cNvPr id="10" name="s5_sub_184"/>
          <p:cNvSpPr/>
          <p:nvPr/>
        </p:nvSpPr>
        <p:spPr>
          <a:xfrm>
            <a:off x="731520" y="3374136"/>
            <a:ext cx="3474720" cy="658368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sp>
        <p:nvSpPr>
          <p:cNvPr id="11" name="s5_t_185"/>
          <p:cNvSpPr txBox="1"/>
          <p:nvPr/>
        </p:nvSpPr>
        <p:spPr>
          <a:xfrm>
            <a:off x="896112" y="337413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FN_TOTAL_PEDIDO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Suma cantidad × precio</a:t>
            </a:r>
            <a:endParaRPr lang="en-US" sz="1400" dirty="0"/>
          </a:p>
        </p:txBody>
      </p:sp>
      <p:sp>
        <p:nvSpPr>
          <p:cNvPr id="12" name="s5_sub_186"/>
          <p:cNvSpPr/>
          <p:nvPr/>
        </p:nvSpPr>
        <p:spPr>
          <a:xfrm>
            <a:off x="731520" y="4142232"/>
            <a:ext cx="3474720" cy="658368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/>
        </p:spPr>
      </p:sp>
      <p:sp>
        <p:nvSpPr>
          <p:cNvPr id="13" name="s5_t_187"/>
          <p:cNvSpPr txBox="1"/>
          <p:nvPr/>
        </p:nvSpPr>
        <p:spPr>
          <a:xfrm>
            <a:off x="896112" y="4142232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FN_CANT_DETALLES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Privada: cuenta las líneas</a:t>
            </a:r>
            <a:endParaRPr lang="en-US" sz="1400" dirty="0"/>
          </a:p>
        </p:txBody>
      </p:sp>
      <p:sp>
        <p:nvSpPr>
          <p:cNvPr id="14" name="s5_trg_188"/>
          <p:cNvSpPr/>
          <p:nvPr/>
        </p:nvSpPr>
        <p:spPr>
          <a:xfrm>
            <a:off x="4974336" y="1783080"/>
            <a:ext cx="2697480" cy="3154680"/>
          </a:xfrm>
          <a:prstGeom prst="roundRect">
            <a:avLst>
              <a:gd name="adj" fmla="val 4746"/>
            </a:avLst>
          </a:prstGeom>
          <a:solidFill>
            <a:schemeClr val="tx1"/>
          </a:solidFill>
          <a:ln/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15" name="s5_t_189"/>
          <p:cNvSpPr txBox="1"/>
          <p:nvPr/>
        </p:nvSpPr>
        <p:spPr>
          <a:xfrm>
            <a:off x="5202936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2"/>
                </a:solidFill>
              </a:rPr>
              <a:t>TRIGGER</a:t>
            </a:r>
            <a:endParaRPr lang="en-US" sz="900" dirty="0"/>
          </a:p>
        </p:txBody>
      </p:sp>
      <p:sp>
        <p:nvSpPr>
          <p:cNvPr id="16" name="s5_t_190"/>
          <p:cNvSpPr txBox="1"/>
          <p:nvPr/>
        </p:nvSpPr>
        <p:spPr>
          <a:xfrm>
            <a:off x="5202936" y="213055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TRG_PEDIDO_FILA</a:t>
            </a:r>
            <a:endParaRPr lang="en-US" sz="1400" dirty="0"/>
          </a:p>
        </p:txBody>
      </p:sp>
      <p:sp>
        <p:nvSpPr>
          <p:cNvPr id="17" name="s5_t_191"/>
          <p:cNvSpPr txBox="1"/>
          <p:nvPr/>
        </p:nvSpPr>
        <p:spPr>
          <a:xfrm>
            <a:off x="5202936" y="265176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4"/>
                </a:solidFill>
              </a:rPr>
              <a:t>Se dispara solo al actualizar PEDIDOS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6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Valida la receta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Calcula el consumo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Fija el TOTAL</a:t>
            </a:r>
            <a:endParaRPr lang="en-US" sz="1300" dirty="0"/>
          </a:p>
        </p:txBody>
      </p:sp>
      <p:sp>
        <p:nvSpPr>
          <p:cNvPr id="18" name="s5_inv_192"/>
          <p:cNvSpPr/>
          <p:nvPr/>
        </p:nvSpPr>
        <p:spPr>
          <a:xfrm>
            <a:off x="8257032" y="1783080"/>
            <a:ext cx="3383280" cy="3154680"/>
          </a:xfrm>
          <a:prstGeom prst="roundRect">
            <a:avLst>
              <a:gd name="adj" fmla="val 4058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19" name="s5_t_193"/>
          <p:cNvSpPr txBox="1"/>
          <p:nvPr/>
        </p:nvSpPr>
        <p:spPr>
          <a:xfrm>
            <a:off x="8485632" y="1920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chemeClr val="accent1"/>
                </a:solidFill>
              </a:rPr>
              <a:t>INVENTARIO</a:t>
            </a:r>
            <a:endParaRPr lang="en-US" sz="900" dirty="0"/>
          </a:p>
        </p:txBody>
      </p:sp>
      <p:sp>
        <p:nvSpPr>
          <p:cNvPr id="20" name="s5_t_194"/>
          <p:cNvSpPr txBox="1"/>
          <p:nvPr/>
        </p:nvSpPr>
        <p:spPr>
          <a:xfrm>
            <a:off x="8485632" y="2130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INGREDIENTES</a:t>
            </a:r>
            <a:endParaRPr lang="en-US" sz="1500" dirty="0"/>
          </a:p>
        </p:txBody>
      </p:sp>
      <p:sp>
        <p:nvSpPr>
          <p:cNvPr id="21" name="s5_t_195"/>
          <p:cNvSpPr txBox="1"/>
          <p:nvPr/>
        </p:nvSpPr>
        <p:spPr>
          <a:xfrm>
            <a:off x="8485632" y="24963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Se descuenta STOCK_ACTUAL</a:t>
            </a:r>
            <a:endParaRPr lang="en-US" sz="1200" dirty="0"/>
          </a:p>
        </p:txBody>
      </p:sp>
      <p:sp>
        <p:nvSpPr>
          <p:cNvPr id="22" name="s5_sub_196"/>
          <p:cNvSpPr/>
          <p:nvPr/>
        </p:nvSpPr>
        <p:spPr>
          <a:xfrm>
            <a:off x="8439912" y="2971800"/>
            <a:ext cx="3017520" cy="777240"/>
          </a:xfrm>
          <a:prstGeom prst="roundRect">
            <a:avLst>
              <a:gd name="adj" fmla="val 10588"/>
            </a:avLst>
          </a:prstGeom>
          <a:solidFill>
            <a:schemeClr val="accent5"/>
          </a:solidFill>
          <a:ln/>
        </p:spPr>
      </p:sp>
      <p:sp>
        <p:nvSpPr>
          <p:cNvPr id="23" name="s5_t_197"/>
          <p:cNvSpPr txBox="1"/>
          <p:nvPr/>
        </p:nvSpPr>
        <p:spPr>
          <a:xfrm>
            <a:off x="8604504" y="2971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TRG_INGREDIENTE_FILA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Impide stock negativo</a:t>
            </a:r>
            <a:endParaRPr lang="en-US" sz="1400" dirty="0"/>
          </a:p>
        </p:txBody>
      </p:sp>
      <p:sp>
        <p:nvSpPr>
          <p:cNvPr id="24" name="s5_sub_198"/>
          <p:cNvSpPr/>
          <p:nvPr/>
        </p:nvSpPr>
        <p:spPr>
          <a:xfrm>
            <a:off x="8439912" y="3886200"/>
            <a:ext cx="3017520" cy="777240"/>
          </a:xfrm>
          <a:prstGeom prst="roundRect">
            <a:avLst>
              <a:gd name="adj" fmla="val 10588"/>
            </a:avLst>
          </a:prstGeom>
          <a:solidFill>
            <a:schemeClr val="accent5"/>
          </a:solidFill>
          <a:ln/>
        </p:spPr>
      </p:sp>
      <p:sp>
        <p:nvSpPr>
          <p:cNvPr id="25" name="s5_t_199"/>
          <p:cNvSpPr txBox="1"/>
          <p:nvPr/>
        </p:nvSpPr>
        <p:spPr>
          <a:xfrm>
            <a:off x="8604504" y="38862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TRG_INGREDIENTE_SENTENCIA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tx2"/>
                </a:solidFill>
              </a:rPr>
              <a:t>Registra la auditoría</a:t>
            </a:r>
            <a:endParaRPr lang="en-US" sz="1400" dirty="0"/>
          </a:p>
        </p:txBody>
      </p:sp>
      <p:pic>
        <p:nvPicPr>
          <p:cNvPr id="26" name="s5_img_20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3214116"/>
            <a:ext cx="292608" cy="292608"/>
          </a:xfrm>
          <a:prstGeom prst="rect">
            <a:avLst/>
          </a:prstGeom>
        </p:spPr>
      </p:pic>
      <p:pic>
        <p:nvPicPr>
          <p:cNvPr id="27" name="s5_img_20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214116"/>
            <a:ext cx="292608" cy="292608"/>
          </a:xfrm>
          <a:prstGeom prst="rect">
            <a:avLst/>
          </a:prstGeom>
        </p:spPr>
      </p:pic>
      <p:sp>
        <p:nvSpPr>
          <p:cNvPr id="28" name="s5_t_202"/>
          <p:cNvSpPr txBox="1"/>
          <p:nvPr/>
        </p:nvSpPr>
        <p:spPr>
          <a:xfrm>
            <a:off x="4407408" y="35433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1"/>
                </a:solidFill>
              </a:rPr>
              <a:t>UPDATE</a:t>
            </a:r>
            <a:endParaRPr lang="en-US" sz="800" dirty="0"/>
          </a:p>
        </p:txBody>
      </p:sp>
      <p:sp>
        <p:nvSpPr>
          <p:cNvPr id="29" name="s5_t_203"/>
          <p:cNvSpPr txBox="1"/>
          <p:nvPr/>
        </p:nvSpPr>
        <p:spPr>
          <a:xfrm>
            <a:off x="7690104" y="35433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accent1"/>
                </a:solidFill>
              </a:rPr>
              <a:t>UPDATE</a:t>
            </a:r>
            <a:endParaRPr lang="en-US" sz="800" dirty="0"/>
          </a:p>
        </p:txBody>
      </p:sp>
      <p:sp>
        <p:nvSpPr>
          <p:cNvPr id="30" name="s5_ban_204"/>
          <p:cNvSpPr/>
          <p:nvPr/>
        </p:nvSpPr>
        <p:spPr>
          <a:xfrm>
            <a:off x="548640" y="5193792"/>
            <a:ext cx="11091672" cy="4572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31" name="s5_t_205"/>
          <p:cNvSpPr txBox="1"/>
          <p:nvPr/>
        </p:nvSpPr>
        <p:spPr>
          <a:xfrm>
            <a:off x="822960" y="5193792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</a:t>
            </a:r>
            <a:r>
              <a:rPr lang="en-US" sz="1300" b="1" dirty="0">
                <a:solidFill>
                  <a:schemeClr val="bg1"/>
                </a:solidFill>
              </a:rPr>
              <a:t>Se actualiza el ESTADO     </a:t>
            </a:r>
            <a:r>
              <a:rPr lang="en-US" sz="1300" b="1" dirty="0">
                <a:solidFill>
                  <a:schemeClr val="accent1"/>
                </a:solidFill>
              </a:rPr>
              <a:t>2 </a:t>
            </a:r>
            <a:r>
              <a:rPr lang="en-US" sz="1300" b="1" dirty="0">
                <a:solidFill>
                  <a:schemeClr val="bg1"/>
                </a:solidFill>
              </a:rPr>
              <a:t>El trigger descuenta insumos     </a:t>
            </a:r>
            <a:r>
              <a:rPr lang="en-US" sz="1300" b="1" dirty="0">
                <a:solidFill>
                  <a:schemeClr val="accent1"/>
                </a:solidFill>
              </a:rPr>
              <a:t>3 </a:t>
            </a:r>
            <a:r>
              <a:rPr lang="en-US" sz="1300" b="1" dirty="0">
                <a:solidFill>
                  <a:schemeClr val="bg1"/>
                </a:solidFill>
              </a:rPr>
              <a:t>Otro trigger valida y audita</a:t>
            </a:r>
            <a:endParaRPr lang="en-US" sz="1300" dirty="0"/>
          </a:p>
        </p:txBody>
      </p:sp>
      <p:sp>
        <p:nvSpPr>
          <p:cNvPr id="32" name="s5_ban_206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33" name="s5_t_207"/>
          <p:cNvSpPr txBox="1"/>
          <p:nvPr/>
        </p:nvSpPr>
        <p:spPr>
          <a:xfrm>
            <a:off x="822960" y="5760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El COMMIT o ROLLBACK </a:t>
            </a:r>
            <a:r>
              <a:rPr lang="en-US" sz="1300" dirty="0">
                <a:solidFill>
                  <a:schemeClr val="tx1"/>
                </a:solidFill>
              </a:rPr>
              <a:t>lo decide el bloque que invoca el procedimiento.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50"/>
                            </p:stCondLst>
                            <p:childTnLst>
                              <p:par>
                                <p:cTn id="40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95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600"/>
                            </p:stCondLst>
                            <p:childTnLst>
                              <p:par>
                                <p:cTn id="89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3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  <p:bldP spid="25" grpId="0" animBg="1"/>
      <p:bldP spid="28" grpId="0" animBg="1"/>
      <p:bldP spid="29" grpId="0" animBg="1"/>
      <p:bldP spid="31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05  |  PACKAGE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PKG_EL_MEO_DIENTE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Cabecera pública + cuerpo con la lógica. Todo vive en 02_Solucion.sql.</a:t>
            </a:r>
            <a:endParaRPr lang="en-US" sz="1400" dirty="0"/>
          </a:p>
        </p:txBody>
      </p:sp>
      <p:pic>
        <p:nvPicPr>
          <p:cNvPr id="5" name="s6_code_208" descr="Cabecera del package PKG_EL_MEO_DIEN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716949" cy="2240280"/>
          </a:xfrm>
          <a:prstGeom prst="rect">
            <a:avLst/>
          </a:prstGeom>
        </p:spPr>
      </p:pic>
      <p:pic>
        <p:nvPicPr>
          <p:cNvPr id="6" name="s6_code_209" descr="Función privada FN_CANT_DETALLES en el cuerpo del pack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5423005" cy="2240280"/>
          </a:xfrm>
          <a:prstGeom prst="rect">
            <a:avLst/>
          </a:prstGeom>
        </p:spPr>
      </p:pic>
      <p:sp>
        <p:nvSpPr>
          <p:cNvPr id="7" name="s6_card_210"/>
          <p:cNvSpPr/>
          <p:nvPr/>
        </p:nvSpPr>
        <p:spPr>
          <a:xfrm>
            <a:off x="6583680" y="1691640"/>
            <a:ext cx="5056632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s6_badge_211"/>
          <p:cNvSpPr/>
          <p:nvPr/>
        </p:nvSpPr>
        <p:spPr>
          <a:xfrm>
            <a:off x="6748272" y="1837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s6_badgen_212"/>
          <p:cNvSpPr txBox="1"/>
          <p:nvPr/>
        </p:nvSpPr>
        <p:spPr>
          <a:xfrm>
            <a:off x="6748272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6_t_213"/>
          <p:cNvSpPr txBox="1"/>
          <p:nvPr/>
        </p:nvSpPr>
        <p:spPr>
          <a:xfrm>
            <a:off x="7223760" y="1783080"/>
            <a:ext cx="4279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2 funciones públicas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FN_TOTAL_PEDIDO y FN_INSUMOS_BAJOS: devuelven un valor.</a:t>
            </a:r>
            <a:endParaRPr lang="en-US" sz="1400" dirty="0"/>
          </a:p>
        </p:txBody>
      </p:sp>
      <p:sp>
        <p:nvSpPr>
          <p:cNvPr id="11" name="s6_card_214"/>
          <p:cNvSpPr/>
          <p:nvPr/>
        </p:nvSpPr>
        <p:spPr>
          <a:xfrm>
            <a:off x="6583680" y="2834640"/>
            <a:ext cx="5056632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s6_badge_215"/>
          <p:cNvSpPr/>
          <p:nvPr/>
        </p:nvSpPr>
        <p:spPr>
          <a:xfrm>
            <a:off x="6748272" y="2980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6_badgen_216"/>
          <p:cNvSpPr txBox="1"/>
          <p:nvPr/>
        </p:nvSpPr>
        <p:spPr>
          <a:xfrm>
            <a:off x="6748272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6_t_217"/>
          <p:cNvSpPr txBox="1"/>
          <p:nvPr/>
        </p:nvSpPr>
        <p:spPr>
          <a:xfrm>
            <a:off x="7223760" y="2926080"/>
            <a:ext cx="4279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4 procedimientos públicos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Confirmar, listar pendientes, reporte de insumos y resumen de ventas.</a:t>
            </a:r>
            <a:endParaRPr lang="en-US" sz="1400" dirty="0"/>
          </a:p>
        </p:txBody>
      </p:sp>
      <p:sp>
        <p:nvSpPr>
          <p:cNvPr id="15" name="s6_card_218"/>
          <p:cNvSpPr/>
          <p:nvPr/>
        </p:nvSpPr>
        <p:spPr>
          <a:xfrm>
            <a:off x="6583680" y="3977640"/>
            <a:ext cx="5056632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s6_badge_219"/>
          <p:cNvSpPr/>
          <p:nvPr/>
        </p:nvSpPr>
        <p:spPr>
          <a:xfrm>
            <a:off x="6748272" y="4123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6_badgen_220"/>
          <p:cNvSpPr txBox="1"/>
          <p:nvPr/>
        </p:nvSpPr>
        <p:spPr>
          <a:xfrm>
            <a:off x="6748272" y="4123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6_t_221"/>
          <p:cNvSpPr txBox="1"/>
          <p:nvPr/>
        </p:nvSpPr>
        <p:spPr>
          <a:xfrm>
            <a:off x="7223760" y="4069080"/>
            <a:ext cx="42793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función privada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FN_CANT_DETALLES solo se usa dentro del cuerpo: no aparece en la cabecera.</a:t>
            </a:r>
            <a:endParaRPr lang="en-US" sz="1400" dirty="0"/>
          </a:p>
        </p:txBody>
      </p:sp>
      <p:sp>
        <p:nvSpPr>
          <p:cNvPr id="19" name="s6_note_222"/>
          <p:cNvSpPr/>
          <p:nvPr/>
        </p:nvSpPr>
        <p:spPr>
          <a:xfrm>
            <a:off x="6583680" y="5166360"/>
            <a:ext cx="5056632" cy="1024128"/>
          </a:xfrm>
          <a:prstGeom prst="roundRect">
            <a:avLst>
              <a:gd name="adj" fmla="val 10714"/>
            </a:avLst>
          </a:prstGeom>
          <a:solidFill>
            <a:schemeClr val="tx1"/>
          </a:solidFill>
          <a:ln/>
        </p:spPr>
      </p:sp>
      <p:sp>
        <p:nvSpPr>
          <p:cNvPr id="20" name="s6_t_223"/>
          <p:cNvSpPr txBox="1"/>
          <p:nvPr/>
        </p:nvSpPr>
        <p:spPr>
          <a:xfrm>
            <a:off x="6858000" y="5166360"/>
            <a:ext cx="45079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Sin repetir lógica. </a:t>
            </a:r>
            <a:r>
              <a:rPr lang="en-US" sz="1250" dirty="0">
                <a:solidFill>
                  <a:schemeClr val="bg1"/>
                </a:solidFill>
              </a:rPr>
              <a:t>Los objetos independientes (FN_CALCULAR_TOTAL_PEDIDO, SP_CONFIRMAR_PEDIDO…) se conservan y delegan en el package.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75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0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animBg="1"/>
      <p:bldP spid="14" grpId="0" animBg="1"/>
      <p:bldP spid="17" grpId="0" animBg="1"/>
      <p:bldP spid="18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06  |  FUNCIÓN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FN_TOTAL_PEDIDO: el total sin errores humanos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Un cursor explícito recorre el detalle y acumula cantidad × precio unitario.</a:t>
            </a:r>
            <a:endParaRPr lang="en-US" sz="1400" dirty="0"/>
          </a:p>
        </p:txBody>
      </p:sp>
      <p:pic>
        <p:nvPicPr>
          <p:cNvPr id="5" name="s7_code_224" descr="Función FN_TOTAL_PEDIDO con cursor explíci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176772" cy="4524451"/>
          </a:xfrm>
          <a:prstGeom prst="rect">
            <a:avLst/>
          </a:prstGeom>
        </p:spPr>
      </p:pic>
      <p:sp>
        <p:nvSpPr>
          <p:cNvPr id="6" name="s7_card_225"/>
          <p:cNvSpPr/>
          <p:nvPr/>
        </p:nvSpPr>
        <p:spPr>
          <a:xfrm>
            <a:off x="7086600" y="1691640"/>
            <a:ext cx="45537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s7_badge_226"/>
          <p:cNvSpPr/>
          <p:nvPr/>
        </p:nvSpPr>
        <p:spPr>
          <a:xfrm>
            <a:off x="7251192" y="1837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7_badgen_227"/>
          <p:cNvSpPr txBox="1"/>
          <p:nvPr/>
        </p:nvSpPr>
        <p:spPr>
          <a:xfrm>
            <a:off x="7251192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7_t_228"/>
          <p:cNvSpPr txBox="1"/>
          <p:nvPr/>
        </p:nvSpPr>
        <p:spPr>
          <a:xfrm>
            <a:off x="7726680" y="1783080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Cursor explícito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CUR_DETALLE trae cantidad y precio de cada línea del pedido.</a:t>
            </a:r>
            <a:endParaRPr lang="en-US" sz="1400" dirty="0"/>
          </a:p>
        </p:txBody>
      </p:sp>
      <p:sp>
        <p:nvSpPr>
          <p:cNvPr id="10" name="s7_card_229"/>
          <p:cNvSpPr/>
          <p:nvPr/>
        </p:nvSpPr>
        <p:spPr>
          <a:xfrm>
            <a:off x="7086600" y="2542032"/>
            <a:ext cx="45537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s7_badge_230"/>
          <p:cNvSpPr/>
          <p:nvPr/>
        </p:nvSpPr>
        <p:spPr>
          <a:xfrm>
            <a:off x="7251192" y="268833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7_badgen_231"/>
          <p:cNvSpPr txBox="1"/>
          <p:nvPr/>
        </p:nvSpPr>
        <p:spPr>
          <a:xfrm>
            <a:off x="7251192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7_t_232"/>
          <p:cNvSpPr txBox="1"/>
          <p:nvPr/>
        </p:nvSpPr>
        <p:spPr>
          <a:xfrm>
            <a:off x="7726680" y="2633472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Recorrido fila por fila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OPEN, FETCH y EXIT WHEN %NOTFOUND dentro de un LOOP.</a:t>
            </a:r>
            <a:endParaRPr lang="en-US" sz="1400" dirty="0"/>
          </a:p>
        </p:txBody>
      </p:sp>
      <p:sp>
        <p:nvSpPr>
          <p:cNvPr id="14" name="s7_card_233"/>
          <p:cNvSpPr/>
          <p:nvPr/>
        </p:nvSpPr>
        <p:spPr>
          <a:xfrm>
            <a:off x="7086600" y="3392424"/>
            <a:ext cx="45537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s7_badge_234"/>
          <p:cNvSpPr/>
          <p:nvPr/>
        </p:nvSpPr>
        <p:spPr>
          <a:xfrm>
            <a:off x="7251192" y="353872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7_badgen_235"/>
          <p:cNvSpPr txBox="1"/>
          <p:nvPr/>
        </p:nvSpPr>
        <p:spPr>
          <a:xfrm>
            <a:off x="7251192" y="3538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7_t_236"/>
          <p:cNvSpPr txBox="1"/>
          <p:nvPr/>
        </p:nvSpPr>
        <p:spPr>
          <a:xfrm>
            <a:off x="7726680" y="3483864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Acumula el subtotal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V_TOTAL suma cantidad × precio unitario.</a:t>
            </a:r>
            <a:endParaRPr lang="en-US" sz="1400" dirty="0"/>
          </a:p>
        </p:txBody>
      </p:sp>
      <p:sp>
        <p:nvSpPr>
          <p:cNvPr id="18" name="s7_card_237"/>
          <p:cNvSpPr/>
          <p:nvPr/>
        </p:nvSpPr>
        <p:spPr>
          <a:xfrm>
            <a:off x="7086600" y="4242816"/>
            <a:ext cx="4553712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s7_badge_238"/>
          <p:cNvSpPr/>
          <p:nvPr/>
        </p:nvSpPr>
        <p:spPr>
          <a:xfrm>
            <a:off x="7251192" y="43891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7_badgen_239"/>
          <p:cNvSpPr txBox="1"/>
          <p:nvPr/>
        </p:nvSpPr>
        <p:spPr>
          <a:xfrm>
            <a:off x="7251192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7_t_240"/>
          <p:cNvSpPr txBox="1"/>
          <p:nvPr/>
        </p:nvSpPr>
        <p:spPr>
          <a:xfrm>
            <a:off x="7726680" y="4334256"/>
            <a:ext cx="3776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Devuelve el valor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RETURN entrega el total: lo usan el trigger y los SELECT.</a:t>
            </a:r>
            <a:endParaRPr lang="en-US" sz="1400" dirty="0"/>
          </a:p>
        </p:txBody>
      </p:sp>
      <p:sp>
        <p:nvSpPr>
          <p:cNvPr id="22" name="s7_stat_241"/>
          <p:cNvSpPr/>
          <p:nvPr/>
        </p:nvSpPr>
        <p:spPr>
          <a:xfrm>
            <a:off x="7086600" y="5193792"/>
            <a:ext cx="4553712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</p:spPr>
      </p:sp>
      <p:sp>
        <p:nvSpPr>
          <p:cNvPr id="23" name="s7_t_242"/>
          <p:cNvSpPr txBox="1"/>
          <p:nvPr/>
        </p:nvSpPr>
        <p:spPr>
          <a:xfrm>
            <a:off x="7360920" y="5193792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</a:rPr>
              <a:t>$7.400</a:t>
            </a:r>
            <a:endParaRPr lang="en-US" sz="3400" dirty="0"/>
          </a:p>
        </p:txBody>
      </p:sp>
      <p:sp>
        <p:nvSpPr>
          <p:cNvPr id="24" name="s7_t_243"/>
          <p:cNvSpPr txBox="1"/>
          <p:nvPr/>
        </p:nvSpPr>
        <p:spPr>
          <a:xfrm>
            <a:off x="9052560" y="5193792"/>
            <a:ext cx="2450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Ejemplo: pedido 1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× 2.500 + 2 × 1.200 + 1 × 2.500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3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5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800"/>
                            </p:stCondLst>
                            <p:childTnLst>
                              <p:par>
                                <p:cTn id="77" presetID="23" presetClass="entr" presetSubtype="16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07  |  PROCEDIMIENTO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SP_CONFIRMAR_PEDIDO: valida y confirma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El procedimiento no descuenta stock: solo cambia el estado y deja trabajar al trigger.</a:t>
            </a:r>
            <a:endParaRPr lang="en-US" sz="1400" dirty="0"/>
          </a:p>
        </p:txBody>
      </p:sp>
      <p:pic>
        <p:nvPicPr>
          <p:cNvPr id="5" name="s8_code_244" descr="Procedimiento SP_CONFIRMAR_PEDI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963156" cy="4581144"/>
          </a:xfrm>
          <a:prstGeom prst="rect">
            <a:avLst/>
          </a:prstGeom>
        </p:spPr>
      </p:pic>
      <p:sp>
        <p:nvSpPr>
          <p:cNvPr id="6" name="s8_card_245"/>
          <p:cNvSpPr/>
          <p:nvPr/>
        </p:nvSpPr>
        <p:spPr>
          <a:xfrm>
            <a:off x="7818120" y="1691640"/>
            <a:ext cx="382219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s8_badge_246"/>
          <p:cNvSpPr/>
          <p:nvPr/>
        </p:nvSpPr>
        <p:spPr>
          <a:xfrm>
            <a:off x="7982712" y="1837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8_badgen_247"/>
          <p:cNvSpPr txBox="1"/>
          <p:nvPr/>
        </p:nvSpPr>
        <p:spPr>
          <a:xfrm>
            <a:off x="7982712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8_t_248"/>
          <p:cNvSpPr txBox="1"/>
          <p:nvPr/>
        </p:nvSpPr>
        <p:spPr>
          <a:xfrm>
            <a:off x="8458200" y="178308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Lee el estado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SELECT … INTO guarda el ESTADO del pedido.</a:t>
            </a:r>
            <a:endParaRPr lang="en-US" sz="1400" dirty="0"/>
          </a:p>
        </p:txBody>
      </p:sp>
      <p:sp>
        <p:nvSpPr>
          <p:cNvPr id="10" name="s8_card_249"/>
          <p:cNvSpPr/>
          <p:nvPr/>
        </p:nvSpPr>
        <p:spPr>
          <a:xfrm>
            <a:off x="7818120" y="2606040"/>
            <a:ext cx="382219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s8_badge_250"/>
          <p:cNvSpPr/>
          <p:nvPr/>
        </p:nvSpPr>
        <p:spPr>
          <a:xfrm>
            <a:off x="7982712" y="27523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8_badgen_251"/>
          <p:cNvSpPr txBox="1"/>
          <p:nvPr/>
        </p:nvSpPr>
        <p:spPr>
          <a:xfrm>
            <a:off x="7982712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8_t_252"/>
          <p:cNvSpPr txBox="1"/>
          <p:nvPr/>
        </p:nvSpPr>
        <p:spPr>
          <a:xfrm>
            <a:off x="8458200" y="269748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Solo PENDIENTE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Si no lo está: error ‑20001.</a:t>
            </a:r>
            <a:endParaRPr lang="en-US" sz="1400" dirty="0"/>
          </a:p>
        </p:txBody>
      </p:sp>
      <p:sp>
        <p:nvSpPr>
          <p:cNvPr id="14" name="s8_card_253"/>
          <p:cNvSpPr/>
          <p:nvPr/>
        </p:nvSpPr>
        <p:spPr>
          <a:xfrm>
            <a:off x="7818120" y="3520440"/>
            <a:ext cx="382219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s8_badge_254"/>
          <p:cNvSpPr/>
          <p:nvPr/>
        </p:nvSpPr>
        <p:spPr>
          <a:xfrm>
            <a:off x="7982712" y="36667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8_badgen_255"/>
          <p:cNvSpPr txBox="1"/>
          <p:nvPr/>
        </p:nvSpPr>
        <p:spPr>
          <a:xfrm>
            <a:off x="7982712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8_t_256"/>
          <p:cNvSpPr txBox="1"/>
          <p:nvPr/>
        </p:nvSpPr>
        <p:spPr>
          <a:xfrm>
            <a:off x="8458200" y="361188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Con productos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Sin líneas de detalle: error ‑20002.</a:t>
            </a:r>
            <a:endParaRPr lang="en-US" sz="1400" dirty="0"/>
          </a:p>
        </p:txBody>
      </p:sp>
      <p:sp>
        <p:nvSpPr>
          <p:cNvPr id="18" name="s8_card_257"/>
          <p:cNvSpPr/>
          <p:nvPr/>
        </p:nvSpPr>
        <p:spPr>
          <a:xfrm>
            <a:off x="7818120" y="4434840"/>
            <a:ext cx="382219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s8_badge_258"/>
          <p:cNvSpPr/>
          <p:nvPr/>
        </p:nvSpPr>
        <p:spPr>
          <a:xfrm>
            <a:off x="7982712" y="45811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8_badgen_259"/>
          <p:cNvSpPr txBox="1"/>
          <p:nvPr/>
        </p:nvSpPr>
        <p:spPr>
          <a:xfrm>
            <a:off x="7982712" y="4581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8_t_260"/>
          <p:cNvSpPr txBox="1"/>
          <p:nvPr/>
        </p:nvSpPr>
        <p:spPr>
          <a:xfrm>
            <a:off x="8458200" y="452628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Confirma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El UPDATE a CONFIRMADO activa TRG_PEDIDO_FILA.</a:t>
            </a:r>
            <a:endParaRPr lang="en-US" sz="1400" dirty="0"/>
          </a:p>
        </p:txBody>
      </p:sp>
      <p:sp>
        <p:nvSpPr>
          <p:cNvPr id="22" name="s8_card_261"/>
          <p:cNvSpPr/>
          <p:nvPr/>
        </p:nvSpPr>
        <p:spPr>
          <a:xfrm>
            <a:off x="7818120" y="5349240"/>
            <a:ext cx="3822192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s8_badge_262"/>
          <p:cNvSpPr/>
          <p:nvPr/>
        </p:nvSpPr>
        <p:spPr>
          <a:xfrm>
            <a:off x="7982712" y="54955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s8_badgen_263"/>
          <p:cNvSpPr txBox="1"/>
          <p:nvPr/>
        </p:nvSpPr>
        <p:spPr>
          <a:xfrm>
            <a:off x="7982712" y="5495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s8_t_264"/>
          <p:cNvSpPr txBox="1"/>
          <p:nvPr/>
        </p:nvSpPr>
        <p:spPr>
          <a:xfrm>
            <a:off x="8458200" y="5440680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Pedido inexistente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NO_DATA_FOUND se convierte en error ‑20003.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3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5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8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08  |  FLUJO DEL SISTEMA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se confirma un pedido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El descuento ocurre al confirmar, no al agregar productos al detalle.</a:t>
            </a:r>
            <a:endParaRPr lang="en-US" sz="1400" dirty="0"/>
          </a:p>
        </p:txBody>
      </p:sp>
      <p:sp>
        <p:nvSpPr>
          <p:cNvPr id="5" name="s9_card_265"/>
          <p:cNvSpPr/>
          <p:nvPr/>
        </p:nvSpPr>
        <p:spPr>
          <a:xfrm>
            <a:off x="548640" y="178308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6" name="s9_t_266"/>
          <p:cNvSpPr txBox="1"/>
          <p:nvPr/>
        </p:nvSpPr>
        <p:spPr>
          <a:xfrm>
            <a:off x="749808" y="1947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7" name="s9_t_267"/>
          <p:cNvSpPr txBox="1"/>
          <p:nvPr/>
        </p:nvSpPr>
        <p:spPr>
          <a:xfrm>
            <a:off x="749808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Validar</a:t>
            </a:r>
            <a:endParaRPr lang="en-US" sz="1800" dirty="0"/>
          </a:p>
        </p:txBody>
      </p:sp>
      <p:sp>
        <p:nvSpPr>
          <p:cNvPr id="8" name="s9_t_268"/>
          <p:cNvSpPr txBox="1"/>
          <p:nvPr/>
        </p:nvSpPr>
        <p:spPr>
          <a:xfrm>
            <a:off x="749808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Existe, está PENDIENTE y tiene productos.</a:t>
            </a:r>
            <a:endParaRPr lang="en-US" sz="1200" dirty="0"/>
          </a:p>
        </p:txBody>
      </p:sp>
      <p:sp>
        <p:nvSpPr>
          <p:cNvPr id="9" name="s9_tag_269"/>
          <p:cNvSpPr/>
          <p:nvPr/>
        </p:nvSpPr>
        <p:spPr>
          <a:xfrm>
            <a:off x="685800" y="3959352"/>
            <a:ext cx="173736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/>
        </p:spPr>
      </p:sp>
      <p:sp>
        <p:nvSpPr>
          <p:cNvPr id="10" name="s9_t_270"/>
          <p:cNvSpPr txBox="1"/>
          <p:nvPr/>
        </p:nvSpPr>
        <p:spPr>
          <a:xfrm>
            <a:off x="685800" y="3959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SP_CONFIRMAR_PEDIDO</a:t>
            </a:r>
            <a:endParaRPr lang="en-US" sz="950" dirty="0"/>
          </a:p>
        </p:txBody>
      </p:sp>
      <p:pic>
        <p:nvPicPr>
          <p:cNvPr id="11" name="s9_img_27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039" y="3063240"/>
            <a:ext cx="182880" cy="182880"/>
          </a:xfrm>
          <a:prstGeom prst="rect">
            <a:avLst/>
          </a:prstGeom>
        </p:spPr>
      </p:pic>
      <p:sp>
        <p:nvSpPr>
          <p:cNvPr id="12" name="s9_card_272"/>
          <p:cNvSpPr/>
          <p:nvPr/>
        </p:nvSpPr>
        <p:spPr>
          <a:xfrm>
            <a:off x="2818638" y="178308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13" name="s9_t_273"/>
          <p:cNvSpPr txBox="1"/>
          <p:nvPr/>
        </p:nvSpPr>
        <p:spPr>
          <a:xfrm>
            <a:off x="3019806" y="1947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s9_t_274"/>
          <p:cNvSpPr txBox="1"/>
          <p:nvPr/>
        </p:nvSpPr>
        <p:spPr>
          <a:xfrm>
            <a:off x="3019806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Actualizar</a:t>
            </a:r>
            <a:endParaRPr lang="en-US" sz="1800" dirty="0"/>
          </a:p>
        </p:txBody>
      </p:sp>
      <p:sp>
        <p:nvSpPr>
          <p:cNvPr id="15" name="s9_t_275"/>
          <p:cNvSpPr txBox="1"/>
          <p:nvPr/>
        </p:nvSpPr>
        <p:spPr>
          <a:xfrm>
            <a:off x="3019806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El ESTADO pasa a CONFIRMADO.</a:t>
            </a:r>
            <a:endParaRPr lang="en-US" sz="1200" dirty="0"/>
          </a:p>
        </p:txBody>
      </p:sp>
      <p:sp>
        <p:nvSpPr>
          <p:cNvPr id="16" name="s9_tag_276"/>
          <p:cNvSpPr/>
          <p:nvPr/>
        </p:nvSpPr>
        <p:spPr>
          <a:xfrm>
            <a:off x="2955798" y="3959352"/>
            <a:ext cx="173736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/>
        </p:spPr>
      </p:sp>
      <p:sp>
        <p:nvSpPr>
          <p:cNvPr id="17" name="s9_t_277"/>
          <p:cNvSpPr txBox="1"/>
          <p:nvPr/>
        </p:nvSpPr>
        <p:spPr>
          <a:xfrm>
            <a:off x="2955798" y="3959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PEDIDOS</a:t>
            </a:r>
            <a:endParaRPr lang="en-US" sz="950" dirty="0"/>
          </a:p>
        </p:txBody>
      </p:sp>
      <p:pic>
        <p:nvPicPr>
          <p:cNvPr id="18" name="s9_img_27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037" y="3063240"/>
            <a:ext cx="182880" cy="182880"/>
          </a:xfrm>
          <a:prstGeom prst="rect">
            <a:avLst/>
          </a:prstGeom>
        </p:spPr>
      </p:pic>
      <p:sp>
        <p:nvSpPr>
          <p:cNvPr id="19" name="s9_card_279"/>
          <p:cNvSpPr/>
          <p:nvPr/>
        </p:nvSpPr>
        <p:spPr>
          <a:xfrm>
            <a:off x="5088636" y="178308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20" name="s9_t_280"/>
          <p:cNvSpPr txBox="1"/>
          <p:nvPr/>
        </p:nvSpPr>
        <p:spPr>
          <a:xfrm>
            <a:off x="5289804" y="1947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21" name="s9_t_281"/>
          <p:cNvSpPr txBox="1"/>
          <p:nvPr/>
        </p:nvSpPr>
        <p:spPr>
          <a:xfrm>
            <a:off x="5289804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Disparar</a:t>
            </a:r>
            <a:endParaRPr lang="en-US" sz="1800" dirty="0"/>
          </a:p>
        </p:txBody>
      </p:sp>
      <p:sp>
        <p:nvSpPr>
          <p:cNvPr id="22" name="s9_t_282"/>
          <p:cNvSpPr txBox="1"/>
          <p:nvPr/>
        </p:nvSpPr>
        <p:spPr>
          <a:xfrm>
            <a:off x="5289804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Revisa las recetas y calcula el consumo por ingrediente.</a:t>
            </a:r>
            <a:endParaRPr lang="en-US" sz="1200" dirty="0"/>
          </a:p>
        </p:txBody>
      </p:sp>
      <p:sp>
        <p:nvSpPr>
          <p:cNvPr id="23" name="s9_tag_283"/>
          <p:cNvSpPr/>
          <p:nvPr/>
        </p:nvSpPr>
        <p:spPr>
          <a:xfrm>
            <a:off x="5225796" y="3959352"/>
            <a:ext cx="173736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/>
        </p:spPr>
      </p:sp>
      <p:sp>
        <p:nvSpPr>
          <p:cNvPr id="24" name="s9_t_284"/>
          <p:cNvSpPr txBox="1"/>
          <p:nvPr/>
        </p:nvSpPr>
        <p:spPr>
          <a:xfrm>
            <a:off x="5225796" y="3959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TRG_PEDIDO_FILA</a:t>
            </a:r>
            <a:endParaRPr lang="en-US" sz="950" dirty="0"/>
          </a:p>
        </p:txBody>
      </p:sp>
      <p:pic>
        <p:nvPicPr>
          <p:cNvPr id="25" name="s9_img_28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035" y="3063240"/>
            <a:ext cx="182880" cy="182880"/>
          </a:xfrm>
          <a:prstGeom prst="rect">
            <a:avLst/>
          </a:prstGeom>
        </p:spPr>
      </p:pic>
      <p:sp>
        <p:nvSpPr>
          <p:cNvPr id="26" name="s9_card_286"/>
          <p:cNvSpPr/>
          <p:nvPr/>
        </p:nvSpPr>
        <p:spPr>
          <a:xfrm>
            <a:off x="7358634" y="178308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27" name="s9_t_287"/>
          <p:cNvSpPr txBox="1"/>
          <p:nvPr/>
        </p:nvSpPr>
        <p:spPr>
          <a:xfrm>
            <a:off x="7559802" y="1947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28" name="s9_t_288"/>
          <p:cNvSpPr txBox="1"/>
          <p:nvPr/>
        </p:nvSpPr>
        <p:spPr>
          <a:xfrm>
            <a:off x="7559802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Descontar</a:t>
            </a:r>
            <a:endParaRPr lang="en-US" sz="1800" dirty="0"/>
          </a:p>
        </p:txBody>
      </p:sp>
      <p:sp>
        <p:nvSpPr>
          <p:cNvPr id="29" name="s9_t_289"/>
          <p:cNvSpPr txBox="1"/>
          <p:nvPr/>
        </p:nvSpPr>
        <p:spPr>
          <a:xfrm>
            <a:off x="7559802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Resta STOCK_ACTUAL; otro trigger impide negativos y audita.</a:t>
            </a:r>
            <a:endParaRPr lang="en-US" sz="1200" dirty="0"/>
          </a:p>
        </p:txBody>
      </p:sp>
      <p:sp>
        <p:nvSpPr>
          <p:cNvPr id="30" name="s9_tag_290"/>
          <p:cNvSpPr/>
          <p:nvPr/>
        </p:nvSpPr>
        <p:spPr>
          <a:xfrm>
            <a:off x="7495794" y="3959352"/>
            <a:ext cx="173736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/>
        </p:spPr>
      </p:sp>
      <p:sp>
        <p:nvSpPr>
          <p:cNvPr id="31" name="s9_t_291"/>
          <p:cNvSpPr txBox="1"/>
          <p:nvPr/>
        </p:nvSpPr>
        <p:spPr>
          <a:xfrm>
            <a:off x="7495794" y="3959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TRG_INGREDIENTE_*</a:t>
            </a:r>
            <a:endParaRPr lang="en-US" sz="950" dirty="0"/>
          </a:p>
        </p:txBody>
      </p:sp>
      <p:pic>
        <p:nvPicPr>
          <p:cNvPr id="32" name="s9_img_29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033" y="3063240"/>
            <a:ext cx="182880" cy="182880"/>
          </a:xfrm>
          <a:prstGeom prst="rect">
            <a:avLst/>
          </a:prstGeom>
        </p:spPr>
      </p:pic>
      <p:sp>
        <p:nvSpPr>
          <p:cNvPr id="33" name="s9_card_293"/>
          <p:cNvSpPr/>
          <p:nvPr/>
        </p:nvSpPr>
        <p:spPr>
          <a:xfrm>
            <a:off x="9628632" y="1783080"/>
            <a:ext cx="2011680" cy="27432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34" name="s9_t_294"/>
          <p:cNvSpPr txBox="1"/>
          <p:nvPr/>
        </p:nvSpPr>
        <p:spPr>
          <a:xfrm>
            <a:off x="9829800" y="1947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05</a:t>
            </a:r>
            <a:endParaRPr lang="en-US" sz="3200" dirty="0"/>
          </a:p>
        </p:txBody>
      </p:sp>
      <p:sp>
        <p:nvSpPr>
          <p:cNvPr id="35" name="s9_t_295"/>
          <p:cNvSpPr txBox="1"/>
          <p:nvPr/>
        </p:nvSpPr>
        <p:spPr>
          <a:xfrm>
            <a:off x="982980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Totalizar</a:t>
            </a:r>
            <a:endParaRPr lang="en-US" sz="1800" dirty="0"/>
          </a:p>
        </p:txBody>
      </p:sp>
      <p:sp>
        <p:nvSpPr>
          <p:cNvPr id="36" name="s9_t_296"/>
          <p:cNvSpPr txBox="1"/>
          <p:nvPr/>
        </p:nvSpPr>
        <p:spPr>
          <a:xfrm>
            <a:off x="982980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Fija PEDIDOS.TOTAL con cantidad × precio.</a:t>
            </a:r>
            <a:endParaRPr lang="en-US" sz="1200" dirty="0"/>
          </a:p>
        </p:txBody>
      </p:sp>
      <p:sp>
        <p:nvSpPr>
          <p:cNvPr id="37" name="s9_tag_297"/>
          <p:cNvSpPr/>
          <p:nvPr/>
        </p:nvSpPr>
        <p:spPr>
          <a:xfrm>
            <a:off x="9765792" y="3959352"/>
            <a:ext cx="1737360" cy="384048"/>
          </a:xfrm>
          <a:prstGeom prst="roundRect">
            <a:avLst>
              <a:gd name="adj" fmla="val 19048"/>
            </a:avLst>
          </a:prstGeom>
          <a:solidFill>
            <a:schemeClr val="tx1"/>
          </a:solidFill>
          <a:ln/>
        </p:spPr>
      </p:sp>
      <p:sp>
        <p:nvSpPr>
          <p:cNvPr id="38" name="s9_t_298"/>
          <p:cNvSpPr txBox="1"/>
          <p:nvPr/>
        </p:nvSpPr>
        <p:spPr>
          <a:xfrm>
            <a:off x="9765792" y="3959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FN_TOTAL_PEDIDO</a:t>
            </a:r>
            <a:endParaRPr lang="en-US" sz="950" dirty="0"/>
          </a:p>
        </p:txBody>
      </p:sp>
      <p:sp>
        <p:nvSpPr>
          <p:cNvPr id="39" name="s9_ok_299"/>
          <p:cNvSpPr/>
          <p:nvPr/>
        </p:nvSpPr>
        <p:spPr>
          <a:xfrm>
            <a:off x="548640" y="475488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pic>
        <p:nvPicPr>
          <p:cNvPr id="40" name="s9_img_30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29200"/>
            <a:ext cx="457200" cy="457200"/>
          </a:xfrm>
          <a:prstGeom prst="rect">
            <a:avLst/>
          </a:prstGeom>
        </p:spPr>
      </p:pic>
      <p:sp>
        <p:nvSpPr>
          <p:cNvPr id="41" name="s9_t_301"/>
          <p:cNvSpPr txBox="1"/>
          <p:nvPr/>
        </p:nvSpPr>
        <p:spPr>
          <a:xfrm>
            <a:off x="1508760" y="48920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6"/>
                </a:solidFill>
              </a:rPr>
              <a:t>TODO CORRECTO</a:t>
            </a:r>
            <a:endParaRPr lang="en-US" sz="14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Los cambios quedan pendientes: el bloque que llamó al procedimiento decide el COMMIT.</a:t>
            </a:r>
            <a:endParaRPr lang="en-US" sz="1400" dirty="0"/>
          </a:p>
        </p:txBody>
      </p:sp>
      <p:sp>
        <p:nvSpPr>
          <p:cNvPr id="42" name="s9_bad_302"/>
          <p:cNvSpPr/>
          <p:nvPr/>
        </p:nvSpPr>
        <p:spPr>
          <a:xfrm>
            <a:off x="6199632" y="4754880"/>
            <a:ext cx="544068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pic>
        <p:nvPicPr>
          <p:cNvPr id="43" name="s9_img_30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5029200"/>
            <a:ext cx="457200" cy="457200"/>
          </a:xfrm>
          <a:prstGeom prst="rect">
            <a:avLst/>
          </a:prstGeom>
        </p:spPr>
      </p:pic>
      <p:sp>
        <p:nvSpPr>
          <p:cNvPr id="44" name="s9_t_304"/>
          <p:cNvSpPr txBox="1"/>
          <p:nvPr/>
        </p:nvSpPr>
        <p:spPr>
          <a:xfrm>
            <a:off x="7159752" y="489204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UNA REGLA FALLA</a:t>
            </a:r>
            <a:endParaRPr lang="en-US" sz="1400" dirty="0"/>
          </a:p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Oracle revierte toda la sentencia: no hay descuentos parciales ni pedidos a medias.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600"/>
                            </p:stCondLst>
                            <p:childTnLst>
                              <p:par>
                                <p:cTn id="63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400"/>
                            </p:stCondLst>
                            <p:childTnLst>
                              <p:par>
                                <p:cTn id="92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200"/>
                            </p:stCondLst>
                            <p:childTnLst>
                              <p:par>
                                <p:cTn id="121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4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4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4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4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4800"/>
                            </p:stCondLst>
                            <p:childTnLst>
                              <p:par>
                                <p:cTn id="156" presetID="22" presetClass="entr" presetSubtype="2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3" grpId="0" animBg="1"/>
      <p:bldP spid="14" grpId="0" animBg="1"/>
      <p:bldP spid="15" grpId="0" animBg="1"/>
      <p:bldP spid="17" grpId="0" animBg="1"/>
      <p:bldP spid="20" grpId="0" animBg="1"/>
      <p:bldP spid="21" grpId="0" animBg="1"/>
      <p:bldP spid="22" grpId="0" animBg="1"/>
      <p:bldP spid="24" grpId="0" animBg="1"/>
      <p:bldP spid="27" grpId="0" animBg="1"/>
      <p:bldP spid="28" grpId="0" animBg="1"/>
      <p:bldP spid="29" grpId="0" animBg="1"/>
      <p:bldP spid="31" grpId="0" animBg="1"/>
      <p:bldP spid="34" grpId="0" animBg="1"/>
      <p:bldP spid="35" grpId="0" animBg="1"/>
      <p:bldP spid="36" grpId="0" animBg="1"/>
      <p:bldP spid="38" grpId="0" animBg="1"/>
      <p:bldP spid="41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09  |  CURSORES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SP_LISTAR_PENDIENTES: cursores anidados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Un cursor externo recorre los pedidos; uno interno, con parámetro, trae el detalle de cada uno.</a:t>
            </a:r>
            <a:endParaRPr lang="en-US" sz="1400" dirty="0"/>
          </a:p>
        </p:txBody>
      </p:sp>
      <p:pic>
        <p:nvPicPr>
          <p:cNvPr id="5" name="s10_code_305" descr="Procedimiento SP_LISTAR_PENDIENTES con cursores anidad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6259868" cy="4663440"/>
          </a:xfrm>
          <a:prstGeom prst="rect">
            <a:avLst/>
          </a:prstGeom>
        </p:spPr>
      </p:pic>
      <p:sp>
        <p:nvSpPr>
          <p:cNvPr id="6" name="s10_card_306"/>
          <p:cNvSpPr/>
          <p:nvPr/>
        </p:nvSpPr>
        <p:spPr>
          <a:xfrm>
            <a:off x="7269480" y="1664208"/>
            <a:ext cx="4370832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s10_badge_307"/>
          <p:cNvSpPr/>
          <p:nvPr/>
        </p:nvSpPr>
        <p:spPr>
          <a:xfrm>
            <a:off x="7434072" y="176479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10_badgen_308"/>
          <p:cNvSpPr txBox="1"/>
          <p:nvPr/>
        </p:nvSpPr>
        <p:spPr>
          <a:xfrm>
            <a:off x="743407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10_t_309"/>
          <p:cNvSpPr txBox="1"/>
          <p:nvPr/>
        </p:nvSpPr>
        <p:spPr>
          <a:xfrm>
            <a:off x="7909560" y="1755648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Cursor con parámetro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CUR_DETALLE(P_PEDIDO) sirve para cualquier pedido.</a:t>
            </a:r>
            <a:endParaRPr lang="en-US" sz="1400" dirty="0"/>
          </a:p>
        </p:txBody>
      </p:sp>
      <p:sp>
        <p:nvSpPr>
          <p:cNvPr id="10" name="s10_card_310"/>
          <p:cNvSpPr/>
          <p:nvPr/>
        </p:nvSpPr>
        <p:spPr>
          <a:xfrm>
            <a:off x="7269480" y="2267712"/>
            <a:ext cx="4370832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s10_badge_311"/>
          <p:cNvSpPr/>
          <p:nvPr/>
        </p:nvSpPr>
        <p:spPr>
          <a:xfrm>
            <a:off x="7434072" y="236829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10_badgen_312"/>
          <p:cNvSpPr txBox="1"/>
          <p:nvPr/>
        </p:nvSpPr>
        <p:spPr>
          <a:xfrm>
            <a:off x="7434072" y="2368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10_t_313"/>
          <p:cNvSpPr txBox="1"/>
          <p:nvPr/>
        </p:nvSpPr>
        <p:spPr>
          <a:xfrm>
            <a:off x="7909560" y="2359152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Cursor externo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Recorre los pedidos PENDIENTES.</a:t>
            </a:r>
            <a:endParaRPr lang="en-US" sz="1400" dirty="0"/>
          </a:p>
        </p:txBody>
      </p:sp>
      <p:sp>
        <p:nvSpPr>
          <p:cNvPr id="14" name="s10_card_314"/>
          <p:cNvSpPr/>
          <p:nvPr/>
        </p:nvSpPr>
        <p:spPr>
          <a:xfrm>
            <a:off x="7269480" y="2871216"/>
            <a:ext cx="4370832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s10_badge_315"/>
          <p:cNvSpPr/>
          <p:nvPr/>
        </p:nvSpPr>
        <p:spPr>
          <a:xfrm>
            <a:off x="7434072" y="297180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10_badgen_316"/>
          <p:cNvSpPr txBox="1"/>
          <p:nvPr/>
        </p:nvSpPr>
        <p:spPr>
          <a:xfrm>
            <a:off x="7434072" y="2971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10_t_317"/>
          <p:cNvSpPr txBox="1"/>
          <p:nvPr/>
        </p:nvSpPr>
        <p:spPr>
          <a:xfrm>
            <a:off x="7909560" y="2962656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Abre el interno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Le pasa el ID del pedido actual.</a:t>
            </a:r>
            <a:endParaRPr lang="en-US" sz="1400" dirty="0"/>
          </a:p>
        </p:txBody>
      </p:sp>
      <p:sp>
        <p:nvSpPr>
          <p:cNvPr id="18" name="s10_card_318"/>
          <p:cNvSpPr/>
          <p:nvPr/>
        </p:nvSpPr>
        <p:spPr>
          <a:xfrm>
            <a:off x="7269480" y="3474720"/>
            <a:ext cx="4370832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s10_badge_319"/>
          <p:cNvSpPr/>
          <p:nvPr/>
        </p:nvSpPr>
        <p:spPr>
          <a:xfrm>
            <a:off x="7434072" y="357530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10_badgen_320"/>
          <p:cNvSpPr txBox="1"/>
          <p:nvPr/>
        </p:nvSpPr>
        <p:spPr>
          <a:xfrm>
            <a:off x="7434072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10_t_321"/>
          <p:cNvSpPr txBox="1"/>
          <p:nvPr/>
        </p:nvSpPr>
        <p:spPr>
          <a:xfrm>
            <a:off x="7909560" y="3566160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Detalle y subtotal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Muestra producto, cantidad y precio.</a:t>
            </a:r>
            <a:endParaRPr lang="en-US" sz="1400" dirty="0"/>
          </a:p>
        </p:txBody>
      </p:sp>
      <p:sp>
        <p:nvSpPr>
          <p:cNvPr id="22" name="s10_card_322"/>
          <p:cNvSpPr/>
          <p:nvPr/>
        </p:nvSpPr>
        <p:spPr>
          <a:xfrm>
            <a:off x="7269480" y="4078224"/>
            <a:ext cx="4370832" cy="530352"/>
          </a:xfrm>
          <a:prstGeom prst="roundRect">
            <a:avLst>
              <a:gd name="adj" fmla="val 2069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s10_badge_323"/>
          <p:cNvSpPr/>
          <p:nvPr/>
        </p:nvSpPr>
        <p:spPr>
          <a:xfrm>
            <a:off x="7434072" y="41788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s10_badgen_324"/>
          <p:cNvSpPr txBox="1"/>
          <p:nvPr/>
        </p:nvSpPr>
        <p:spPr>
          <a:xfrm>
            <a:off x="7434072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s10_t_325"/>
          <p:cNvSpPr txBox="1"/>
          <p:nvPr/>
        </p:nvSpPr>
        <p:spPr>
          <a:xfrm>
            <a:off x="7909560" y="4169664"/>
            <a:ext cx="359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Total del pedido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Llama a FN_TOTAL_PEDIDO.</a:t>
            </a:r>
            <a:endParaRPr lang="en-US" sz="1400" dirty="0"/>
          </a:p>
        </p:txBody>
      </p:sp>
      <p:sp>
        <p:nvSpPr>
          <p:cNvPr id="26" name="s10_term_326"/>
          <p:cNvSpPr/>
          <p:nvPr/>
        </p:nvSpPr>
        <p:spPr>
          <a:xfrm>
            <a:off x="7269480" y="4800600"/>
            <a:ext cx="4370832" cy="1444752"/>
          </a:xfrm>
          <a:prstGeom prst="roundRect">
            <a:avLst>
              <a:gd name="adj" fmla="val 7595"/>
            </a:avLst>
          </a:prstGeom>
          <a:solidFill>
            <a:schemeClr val="tx1"/>
          </a:solidFill>
          <a:ln/>
        </p:spPr>
      </p:sp>
      <p:sp>
        <p:nvSpPr>
          <p:cNvPr id="27" name="s10_t_327"/>
          <p:cNvSpPr txBox="1"/>
          <p:nvPr/>
        </p:nvSpPr>
        <p:spPr>
          <a:xfrm>
            <a:off x="7498080" y="489204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chemeClr val="accent1"/>
                </a:solidFill>
              </a:rPr>
              <a:t>SALIDA ESPERADA · PEDIDO 1 (datos iniciales)</a:t>
            </a:r>
            <a:endParaRPr lang="en-US" sz="850" dirty="0"/>
          </a:p>
        </p:txBody>
      </p:sp>
      <p:sp>
        <p:nvSpPr>
          <p:cNvPr id="28" name="s10_t_328"/>
          <p:cNvSpPr txBox="1"/>
          <p:nvPr/>
        </p:nvSpPr>
        <p:spPr>
          <a:xfrm>
            <a:off x="7498080" y="5138928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Pedido 1 - Juan Pérez - Mesa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Papas Fritas Clásicas x 1 = 2500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Completo Italiano x 1 = 2500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Bebida 350ml x 2 = 2400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calculado: 7400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9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6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3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  <p:bldP spid="24" grpId="0" animBg="1"/>
      <p:bldP spid="25" grpId="0" animBg="1"/>
      <p:bldP spid="27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10  |  AUTOMATIZACIÓN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Cuatro triggers en funcionamiento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Reglas centralizadas que Oracle ejecuta solo, incluso ante un UPDATE directo.</a:t>
            </a:r>
            <a:endParaRPr lang="en-US" sz="1400" dirty="0"/>
          </a:p>
        </p:txBody>
      </p:sp>
      <p:sp>
        <p:nvSpPr>
          <p:cNvPr id="5" name="s11_card_329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6" name="s11_ico_330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s11_img_33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76272"/>
            <a:ext cx="292608" cy="292608"/>
          </a:xfrm>
          <a:prstGeom prst="rect">
            <a:avLst/>
          </a:prstGeom>
        </p:spPr>
      </p:pic>
      <p:sp>
        <p:nvSpPr>
          <p:cNvPr id="8" name="s11_t_332"/>
          <p:cNvSpPr txBox="1"/>
          <p:nvPr/>
        </p:nvSpPr>
        <p:spPr>
          <a:xfrm>
            <a:off x="1554480" y="20574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TRG_INGREDIENTE_FILA</a:t>
            </a:r>
            <a:endParaRPr lang="en-US" sz="1700" dirty="0"/>
          </a:p>
        </p:txBody>
      </p:sp>
      <p:sp>
        <p:nvSpPr>
          <p:cNvPr id="9" name="s11_chip_333"/>
          <p:cNvSpPr/>
          <p:nvPr/>
        </p:nvSpPr>
        <p:spPr>
          <a:xfrm>
            <a:off x="1554480" y="2468880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0" name="s11_chipt_334"/>
          <p:cNvSpPr txBox="1"/>
          <p:nvPr/>
        </p:nvSpPr>
        <p:spPr>
          <a:xfrm>
            <a:off x="1554480" y="246888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accent1"/>
                </a:solidFill>
              </a:rPr>
              <a:t>FILA</a:t>
            </a:r>
            <a:endParaRPr lang="en-US" sz="900" dirty="0"/>
          </a:p>
        </p:txBody>
      </p:sp>
      <p:sp>
        <p:nvSpPr>
          <p:cNvPr id="11" name="s11_t_335"/>
          <p:cNvSpPr txBox="1"/>
          <p:nvPr/>
        </p:nvSpPr>
        <p:spPr>
          <a:xfrm>
            <a:off x="2423160" y="24688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BEFORE INSERT OR UPDATE  ·  ON INGREDIENTES</a:t>
            </a:r>
            <a:endParaRPr lang="en-US" sz="850" dirty="0"/>
          </a:p>
        </p:txBody>
      </p:sp>
      <p:sp>
        <p:nvSpPr>
          <p:cNvPr id="12" name="s11_t_336"/>
          <p:cNvSpPr txBox="1"/>
          <p:nvPr/>
        </p:nvSpPr>
        <p:spPr>
          <a:xfrm>
            <a:off x="822960" y="30175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2"/>
                </a:solidFill>
              </a:rPr>
              <a:t>Rechaza stock actual o mínimo nulo o negativo.</a:t>
            </a:r>
            <a:endParaRPr lang="en-US" sz="1450" dirty="0"/>
          </a:p>
        </p:txBody>
      </p:sp>
      <p:sp>
        <p:nvSpPr>
          <p:cNvPr id="13" name="s11_card_337"/>
          <p:cNvSpPr/>
          <p:nvPr/>
        </p:nvSpPr>
        <p:spPr>
          <a:xfrm>
            <a:off x="6199632" y="178308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14" name="s11_ico_338"/>
          <p:cNvSpPr/>
          <p:nvPr/>
        </p:nvSpPr>
        <p:spPr>
          <a:xfrm>
            <a:off x="6455664" y="2039112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s11_img_33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176272"/>
            <a:ext cx="292608" cy="292608"/>
          </a:xfrm>
          <a:prstGeom prst="rect">
            <a:avLst/>
          </a:prstGeom>
        </p:spPr>
      </p:pic>
      <p:sp>
        <p:nvSpPr>
          <p:cNvPr id="16" name="s11_t_340"/>
          <p:cNvSpPr txBox="1"/>
          <p:nvPr/>
        </p:nvSpPr>
        <p:spPr>
          <a:xfrm>
            <a:off x="7205472" y="205740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TRG_INGREDIENTE_SENTENCIA</a:t>
            </a:r>
            <a:endParaRPr lang="en-US" sz="1700" dirty="0"/>
          </a:p>
        </p:txBody>
      </p:sp>
      <p:sp>
        <p:nvSpPr>
          <p:cNvPr id="17" name="s11_chip_341"/>
          <p:cNvSpPr/>
          <p:nvPr/>
        </p:nvSpPr>
        <p:spPr>
          <a:xfrm>
            <a:off x="7205472" y="2468880"/>
            <a:ext cx="105156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8" name="s11_chipt_342"/>
          <p:cNvSpPr txBox="1"/>
          <p:nvPr/>
        </p:nvSpPr>
        <p:spPr>
          <a:xfrm>
            <a:off x="7205472" y="24688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accent1"/>
                </a:solidFill>
              </a:rPr>
              <a:t>SENTENCIA</a:t>
            </a:r>
            <a:endParaRPr lang="en-US" sz="900" dirty="0"/>
          </a:p>
        </p:txBody>
      </p:sp>
      <p:sp>
        <p:nvSpPr>
          <p:cNvPr id="19" name="s11_t_343"/>
          <p:cNvSpPr txBox="1"/>
          <p:nvPr/>
        </p:nvSpPr>
        <p:spPr>
          <a:xfrm>
            <a:off x="8394192" y="246888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AFTER INSERT, UPDATE OR DELETE  ·  ON INGREDIENTES</a:t>
            </a:r>
            <a:endParaRPr lang="en-US" sz="850" dirty="0"/>
          </a:p>
        </p:txBody>
      </p:sp>
      <p:sp>
        <p:nvSpPr>
          <p:cNvPr id="20" name="s11_t_344"/>
          <p:cNvSpPr txBox="1"/>
          <p:nvPr/>
        </p:nvSpPr>
        <p:spPr>
          <a:xfrm>
            <a:off x="6473952" y="30175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2"/>
                </a:solidFill>
              </a:rPr>
              <a:t>Registra UNA fila de auditoría por operación: fecha, usuario y tipo.</a:t>
            </a:r>
            <a:endParaRPr lang="en-US" sz="1450" dirty="0"/>
          </a:p>
        </p:txBody>
      </p:sp>
      <p:sp>
        <p:nvSpPr>
          <p:cNvPr id="21" name="s11_card_345"/>
          <p:cNvSpPr/>
          <p:nvPr/>
        </p:nvSpPr>
        <p:spPr>
          <a:xfrm>
            <a:off x="548640" y="41148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22" name="s11_ico_346"/>
          <p:cNvSpPr/>
          <p:nvPr/>
        </p:nvSpPr>
        <p:spPr>
          <a:xfrm>
            <a:off x="804672" y="4370832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11_img_34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507992"/>
            <a:ext cx="292608" cy="292608"/>
          </a:xfrm>
          <a:prstGeom prst="rect">
            <a:avLst/>
          </a:prstGeom>
        </p:spPr>
      </p:pic>
      <p:sp>
        <p:nvSpPr>
          <p:cNvPr id="24" name="s11_t_348"/>
          <p:cNvSpPr txBox="1"/>
          <p:nvPr/>
        </p:nvSpPr>
        <p:spPr>
          <a:xfrm>
            <a:off x="1554480" y="4389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TRG_PEDIDO_FILA</a:t>
            </a:r>
            <a:endParaRPr lang="en-US" sz="1700" dirty="0"/>
          </a:p>
        </p:txBody>
      </p:sp>
      <p:sp>
        <p:nvSpPr>
          <p:cNvPr id="25" name="s11_chip_349"/>
          <p:cNvSpPr/>
          <p:nvPr/>
        </p:nvSpPr>
        <p:spPr>
          <a:xfrm>
            <a:off x="1554480" y="4800600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s11_chipt_350"/>
          <p:cNvSpPr txBox="1"/>
          <p:nvPr/>
        </p:nvSpPr>
        <p:spPr>
          <a:xfrm>
            <a:off x="1554480" y="4800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bg1"/>
                </a:solidFill>
              </a:rPr>
              <a:t>FILA</a:t>
            </a:r>
            <a:endParaRPr lang="en-US" sz="900" dirty="0"/>
          </a:p>
        </p:txBody>
      </p:sp>
      <p:sp>
        <p:nvSpPr>
          <p:cNvPr id="27" name="s11_t_351"/>
          <p:cNvSpPr txBox="1"/>
          <p:nvPr/>
        </p:nvSpPr>
        <p:spPr>
          <a:xfrm>
            <a:off x="2423160" y="48006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BEFORE INSERT, UPDATE OR DELETE  ·  ON PEDIDOS</a:t>
            </a:r>
            <a:endParaRPr lang="en-US" sz="850" dirty="0"/>
          </a:p>
        </p:txBody>
      </p:sp>
      <p:sp>
        <p:nvSpPr>
          <p:cNvPr id="28" name="s11_t_352"/>
          <p:cNvSpPr txBox="1"/>
          <p:nvPr/>
        </p:nvSpPr>
        <p:spPr>
          <a:xfrm>
            <a:off x="822960" y="5349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bg1"/>
                </a:solidFill>
              </a:rPr>
              <a:t>Controla los cambios de estado, descuenta ingredientes y fija el total.</a:t>
            </a:r>
            <a:endParaRPr lang="en-US" sz="1450" dirty="0"/>
          </a:p>
        </p:txBody>
      </p:sp>
      <p:sp>
        <p:nvSpPr>
          <p:cNvPr id="29" name="s11_card_353"/>
          <p:cNvSpPr/>
          <p:nvPr/>
        </p:nvSpPr>
        <p:spPr>
          <a:xfrm>
            <a:off x="6199632" y="4114800"/>
            <a:ext cx="544068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30" name="s11_ico_354"/>
          <p:cNvSpPr/>
          <p:nvPr/>
        </p:nvSpPr>
        <p:spPr>
          <a:xfrm>
            <a:off x="6455664" y="4370832"/>
            <a:ext cx="566928" cy="56692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1" name="s11_img_35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507992"/>
            <a:ext cx="292608" cy="292608"/>
          </a:xfrm>
          <a:prstGeom prst="rect">
            <a:avLst/>
          </a:prstGeom>
        </p:spPr>
      </p:pic>
      <p:sp>
        <p:nvSpPr>
          <p:cNvPr id="32" name="s11_t_356"/>
          <p:cNvSpPr txBox="1"/>
          <p:nvPr/>
        </p:nvSpPr>
        <p:spPr>
          <a:xfrm>
            <a:off x="7205472" y="43891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TRG_DETALLE_FILA</a:t>
            </a:r>
            <a:endParaRPr lang="en-US" sz="1700" dirty="0"/>
          </a:p>
        </p:txBody>
      </p:sp>
      <p:sp>
        <p:nvSpPr>
          <p:cNvPr id="33" name="s11_chip_357"/>
          <p:cNvSpPr/>
          <p:nvPr/>
        </p:nvSpPr>
        <p:spPr>
          <a:xfrm>
            <a:off x="7205472" y="4800600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4" name="s11_chipt_358"/>
          <p:cNvSpPr txBox="1"/>
          <p:nvPr/>
        </p:nvSpPr>
        <p:spPr>
          <a:xfrm>
            <a:off x="7205472" y="4800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chemeClr val="accent1"/>
                </a:solidFill>
              </a:rPr>
              <a:t>FILA</a:t>
            </a:r>
            <a:endParaRPr lang="en-US" sz="900" dirty="0"/>
          </a:p>
        </p:txBody>
      </p:sp>
      <p:sp>
        <p:nvSpPr>
          <p:cNvPr id="35" name="s11_t_359"/>
          <p:cNvSpPr txBox="1"/>
          <p:nvPr/>
        </p:nvSpPr>
        <p:spPr>
          <a:xfrm>
            <a:off x="8074152" y="48006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BEFORE INSERT, UPDATE OR DELETE  ·  ON DETALLE_PEDIDO</a:t>
            </a:r>
            <a:endParaRPr lang="en-US" sz="850" dirty="0"/>
          </a:p>
        </p:txBody>
      </p:sp>
      <p:sp>
        <p:nvSpPr>
          <p:cNvPr id="36" name="s11_t_360"/>
          <p:cNvSpPr txBox="1"/>
          <p:nvPr/>
        </p:nvSpPr>
        <p:spPr>
          <a:xfrm>
            <a:off x="6473952" y="53492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2"/>
                </a:solidFill>
              </a:rPr>
              <a:t>Protege el detalle de pedidos procesados y valida cantidad y precio.</a:t>
            </a:r>
            <a:endParaRPr lang="en-US" sz="14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50"/>
                            </p:stCondLst>
                            <p:childTnLst>
                              <p:par>
                                <p:cTn id="71" presetID="2" presetClass="entr" presetSubtype="4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900"/>
                            </p:stCondLst>
                            <p:childTnLst>
                              <p:par>
                                <p:cTn id="104" presetID="2" presetClass="entr" presetSubtype="4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6" grpId="0" animBg="1"/>
      <p:bldP spid="18" grpId="0" animBg="1"/>
      <p:bldP spid="19" grpId="0" animBg="1"/>
      <p:bldP spid="20" grpId="0" animBg="1"/>
      <p:bldP spid="24" grpId="0" animBg="1"/>
      <p:bldP spid="26" grpId="0" animBg="1"/>
      <p:bldP spid="27" grpId="0" animBg="1"/>
      <p:bldP spid="28" grpId="0" animBg="1"/>
      <p:bldP spid="32" grpId="0" animBg="1"/>
      <p:bldP spid="34" grpId="0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11  |  TRIGGER CLAVE (1/2)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TRG_PEDIDO_FILA: valida antes de actuar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Solo se descuenta stock cuando el pedido pasa de PENDIENTE a CONFIRMADO.</a:t>
            </a:r>
            <a:endParaRPr lang="en-US" sz="1400" dirty="0"/>
          </a:p>
        </p:txBody>
      </p:sp>
      <p:pic>
        <p:nvPicPr>
          <p:cNvPr id="5" name="s12_code_361" descr="Trigger TRG_PEDIDO_FILA: validaciones al confirm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100523" cy="4019702"/>
          </a:xfrm>
          <a:prstGeom prst="rect">
            <a:avLst/>
          </a:prstGeom>
        </p:spPr>
      </p:pic>
      <p:sp>
        <p:nvSpPr>
          <p:cNvPr id="6" name="s12_card_362"/>
          <p:cNvSpPr/>
          <p:nvPr/>
        </p:nvSpPr>
        <p:spPr>
          <a:xfrm>
            <a:off x="6035040" y="1691640"/>
            <a:ext cx="5605272" cy="1042416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s12_badge_363"/>
          <p:cNvSpPr/>
          <p:nvPr/>
        </p:nvSpPr>
        <p:spPr>
          <a:xfrm>
            <a:off x="6199632" y="1837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12_badgen_364"/>
          <p:cNvSpPr txBox="1"/>
          <p:nvPr/>
        </p:nvSpPr>
        <p:spPr>
          <a:xfrm>
            <a:off x="6199632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12_t_365"/>
          <p:cNvSpPr txBox="1"/>
          <p:nvPr/>
        </p:nvSpPr>
        <p:spPr>
          <a:xfrm>
            <a:off x="6675120" y="1783080"/>
            <a:ext cx="4828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Trigger de fila sobre PEDIDOS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BEFORE INSERT OR UPDATE OR DELETE · FOR EACH ROW: corre una vez por cada fila afectada.</a:t>
            </a:r>
            <a:endParaRPr lang="en-US" sz="1400" dirty="0"/>
          </a:p>
        </p:txBody>
      </p:sp>
      <p:sp>
        <p:nvSpPr>
          <p:cNvPr id="10" name="s12_card_366"/>
          <p:cNvSpPr/>
          <p:nvPr/>
        </p:nvSpPr>
        <p:spPr>
          <a:xfrm>
            <a:off x="6035040" y="2862072"/>
            <a:ext cx="5605272" cy="1042416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s12_badge_367"/>
          <p:cNvSpPr/>
          <p:nvPr/>
        </p:nvSpPr>
        <p:spPr>
          <a:xfrm>
            <a:off x="6199632" y="300837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12_badgen_368"/>
          <p:cNvSpPr txBox="1"/>
          <p:nvPr/>
        </p:nvSpPr>
        <p:spPr>
          <a:xfrm>
            <a:off x="6199632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12_t_369"/>
          <p:cNvSpPr txBox="1"/>
          <p:nvPr/>
        </p:nvSpPr>
        <p:spPr>
          <a:xfrm>
            <a:off x="6675120" y="2953512"/>
            <a:ext cx="4828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Solo PENDIENTE → CONFIRMADO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Otros cambios de estado tienen su propia regla; los no permitidos dan error ‑20017.</a:t>
            </a:r>
            <a:endParaRPr lang="en-US" sz="1400" dirty="0"/>
          </a:p>
        </p:txBody>
      </p:sp>
      <p:sp>
        <p:nvSpPr>
          <p:cNvPr id="14" name="s12_card_370"/>
          <p:cNvSpPr/>
          <p:nvPr/>
        </p:nvSpPr>
        <p:spPr>
          <a:xfrm>
            <a:off x="6035040" y="4032504"/>
            <a:ext cx="5605272" cy="1042416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s12_badge_371"/>
          <p:cNvSpPr/>
          <p:nvPr/>
        </p:nvSpPr>
        <p:spPr>
          <a:xfrm>
            <a:off x="6199632" y="417880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12_badgen_372"/>
          <p:cNvSpPr txBox="1"/>
          <p:nvPr/>
        </p:nvSpPr>
        <p:spPr>
          <a:xfrm>
            <a:off x="6199632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s12_t_373"/>
          <p:cNvSpPr txBox="1"/>
          <p:nvPr/>
        </p:nvSpPr>
        <p:spPr>
          <a:xfrm>
            <a:off x="6675120" y="4123944"/>
            <a:ext cx="4828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Pedido sin productos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Si DETALLE_PEDIDO no tiene líneas: error ‑20002.</a:t>
            </a:r>
            <a:endParaRPr lang="en-US" sz="1400" dirty="0"/>
          </a:p>
        </p:txBody>
      </p:sp>
      <p:sp>
        <p:nvSpPr>
          <p:cNvPr id="18" name="s12_card_374"/>
          <p:cNvSpPr/>
          <p:nvPr/>
        </p:nvSpPr>
        <p:spPr>
          <a:xfrm>
            <a:off x="6035040" y="5202936"/>
            <a:ext cx="5605272" cy="1042416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s12_badge_375"/>
          <p:cNvSpPr/>
          <p:nvPr/>
        </p:nvSpPr>
        <p:spPr>
          <a:xfrm>
            <a:off x="6199632" y="53492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12_badgen_376"/>
          <p:cNvSpPr txBox="1"/>
          <p:nvPr/>
        </p:nvSpPr>
        <p:spPr>
          <a:xfrm>
            <a:off x="6199632" y="5349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s12_t_377"/>
          <p:cNvSpPr txBox="1"/>
          <p:nvPr/>
        </p:nvSpPr>
        <p:spPr>
          <a:xfrm>
            <a:off x="6675120" y="5294376"/>
            <a:ext cx="48280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Producto sin receta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Si falta la receta en PRODUCTO_INGREDIENTE: error ‑20016 y no se confirma.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5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3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5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12  |  TRIGGER CLAVE (2/2)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TRG_PEDIDO_FILA: descuenta por ingrediente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Un ejemplo real con los datos del script: confirmar el pedido 1.</a:t>
            </a:r>
            <a:endParaRPr lang="en-US" sz="1400" dirty="0"/>
          </a:p>
        </p:txBody>
      </p:sp>
      <p:pic>
        <p:nvPicPr>
          <p:cNvPr id="5" name="s13_code_378" descr="Trigger TRG_PEDIDO_FILA: cursor de consumo y descuen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501030" cy="2571293"/>
          </a:xfrm>
          <a:prstGeom prst="rect">
            <a:avLst/>
          </a:prstGeom>
        </p:spPr>
      </p:pic>
      <p:sp>
        <p:nvSpPr>
          <p:cNvPr id="6" name="s13_card_379"/>
          <p:cNvSpPr/>
          <p:nvPr/>
        </p:nvSpPr>
        <p:spPr>
          <a:xfrm>
            <a:off x="6355080" y="1691640"/>
            <a:ext cx="528523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s13_badge_380"/>
          <p:cNvSpPr/>
          <p:nvPr/>
        </p:nvSpPr>
        <p:spPr>
          <a:xfrm>
            <a:off x="6519672" y="1837944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13_badgen_381"/>
          <p:cNvSpPr txBox="1"/>
          <p:nvPr/>
        </p:nvSpPr>
        <p:spPr>
          <a:xfrm>
            <a:off x="6519672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9" name="s13_t_382"/>
          <p:cNvSpPr txBox="1"/>
          <p:nvPr/>
        </p:nvSpPr>
        <p:spPr>
          <a:xfrm>
            <a:off x="6995160" y="1783080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Consumo por ingrediente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CUR_CONSUMO suma cantidad × receta; si dos productos comparten insumo, se acumula.</a:t>
            </a:r>
            <a:endParaRPr lang="en-US" sz="1400" dirty="0"/>
          </a:p>
        </p:txBody>
      </p:sp>
      <p:sp>
        <p:nvSpPr>
          <p:cNvPr id="10" name="s13_card_383"/>
          <p:cNvSpPr/>
          <p:nvPr/>
        </p:nvSpPr>
        <p:spPr>
          <a:xfrm>
            <a:off x="6355080" y="2587752"/>
            <a:ext cx="528523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1" name="s13_badge_384"/>
          <p:cNvSpPr/>
          <p:nvPr/>
        </p:nvSpPr>
        <p:spPr>
          <a:xfrm>
            <a:off x="6519672" y="2734056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13_badgen_385"/>
          <p:cNvSpPr txBox="1"/>
          <p:nvPr/>
        </p:nvSpPr>
        <p:spPr>
          <a:xfrm>
            <a:off x="6519672" y="2734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3" name="s13_t_386"/>
          <p:cNvSpPr txBox="1"/>
          <p:nvPr/>
        </p:nvSpPr>
        <p:spPr>
          <a:xfrm>
            <a:off x="6995160" y="2679192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Descuenta el inventario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UPDATE INGREDIENTES resta STOCK_ACTUAL. Si queda &lt; 0, TRG_INGREDIENTE_FILA aborta todo.</a:t>
            </a:r>
            <a:endParaRPr lang="en-US" sz="1400" dirty="0"/>
          </a:p>
        </p:txBody>
      </p:sp>
      <p:sp>
        <p:nvSpPr>
          <p:cNvPr id="14" name="s13_card_387"/>
          <p:cNvSpPr/>
          <p:nvPr/>
        </p:nvSpPr>
        <p:spPr>
          <a:xfrm>
            <a:off x="6355080" y="3483864"/>
            <a:ext cx="528523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s13_badge_388"/>
          <p:cNvSpPr/>
          <p:nvPr/>
        </p:nvSpPr>
        <p:spPr>
          <a:xfrm>
            <a:off x="6519672" y="3630168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13_badgen_389"/>
          <p:cNvSpPr txBox="1"/>
          <p:nvPr/>
        </p:nvSpPr>
        <p:spPr>
          <a:xfrm>
            <a:off x="6519672" y="3630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17" name="s13_t_390"/>
          <p:cNvSpPr txBox="1"/>
          <p:nvPr/>
        </p:nvSpPr>
        <p:spPr>
          <a:xfrm>
            <a:off x="6995160" y="3575304"/>
            <a:ext cx="4507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tx1"/>
                </a:solidFill>
              </a:rPr>
              <a:t>Fija el total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accent3"/>
                </a:solidFill>
              </a:rPr>
              <a:t>Asigna :NEW.TOTAL con FN_TOTAL_PEDIDO.</a:t>
            </a:r>
            <a:endParaRPr lang="en-US" sz="1400" dirty="0"/>
          </a:p>
        </p:txBody>
      </p:sp>
      <p:sp>
        <p:nvSpPr>
          <p:cNvPr id="18" name="s13_t_391"/>
          <p:cNvSpPr txBox="1"/>
          <p:nvPr/>
        </p:nvSpPr>
        <p:spPr>
          <a:xfrm>
            <a:off x="548640" y="45262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Pedido 1: </a:t>
            </a:r>
            <a:r>
              <a:rPr lang="en-US" sz="1300" dirty="0">
                <a:solidFill>
                  <a:schemeClr val="tx1"/>
                </a:solidFill>
              </a:rPr>
              <a:t>1 papas fritas clásicas + 2 bebidas 350 ml + 1 completo italiano  →  8 ingredientes se descuentan</a:t>
            </a:r>
            <a:endParaRPr lang="en-US" sz="1300" dirty="0"/>
          </a:p>
        </p:txBody>
      </p:sp>
      <p:graphicFrame>
        <p:nvGraphicFramePr>
          <p:cNvPr id="19" name="s13_tabla_3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1091672" cy="914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7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0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7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07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07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07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07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207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Papas</a:t>
                      </a: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Aceite</a:t>
                      </a: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Bebida gaseosa</a:t>
                      </a: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Pan de completo</a:t>
                      </a: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Vienesa</a:t>
                      </a: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Tomate</a:t>
                      </a: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Palta</a:t>
                      </a: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Mayonesa</a:t>
                      </a:r>
                      <a:endParaRPr lang="en-US" sz="105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Stock antes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40 KG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25 LT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60 LT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200 UN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200 UN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15 KG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10 KG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6 KG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Consumo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−0,30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−0,10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−0,70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−1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−1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−0,05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−0,05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−0,03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Stock después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39,70 KG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24,90 LT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59,30 LT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199 UN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199 UN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14,95 KG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9,95 KG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5,97 KG</a:t>
                      </a:r>
                      <a:endParaRPr lang="en-US" sz="1100" dirty="0"/>
                    </a:p>
                  </a:txBody>
                  <a:tcPr marR="54864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9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6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13  |  VALIDACIÓN + TRAZABILIDAD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Triggers sobre INGREDIENTES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Uno protege el stock; el otro deja registro de cada operación.</a:t>
            </a:r>
            <a:endParaRPr lang="en-US" sz="1400" dirty="0"/>
          </a:p>
        </p:txBody>
      </p:sp>
      <p:pic>
        <p:nvPicPr>
          <p:cNvPr id="5" name="s14_code_393" descr="Trigger de fila TRG_INGREDIENTE_FIL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462626" cy="3438144"/>
          </a:xfrm>
          <a:prstGeom prst="rect">
            <a:avLst/>
          </a:prstGeom>
        </p:spPr>
      </p:pic>
      <p:pic>
        <p:nvPicPr>
          <p:cNvPr id="6" name="s14_code_394" descr="Trigger de sentencia TRG_INGREDIENTE_SENTENC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91640"/>
            <a:ext cx="5033772" cy="3819449"/>
          </a:xfrm>
          <a:prstGeom prst="rect">
            <a:avLst/>
          </a:prstGeom>
        </p:spPr>
      </p:pic>
      <p:sp>
        <p:nvSpPr>
          <p:cNvPr id="7" name="s14_cap_395"/>
          <p:cNvSpPr/>
          <p:nvPr/>
        </p:nvSpPr>
        <p:spPr>
          <a:xfrm>
            <a:off x="548640" y="5532120"/>
            <a:ext cx="5486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8" name="s14_t_396"/>
          <p:cNvSpPr txBox="1"/>
          <p:nvPr/>
        </p:nvSpPr>
        <p:spPr>
          <a:xfrm>
            <a:off x="731520" y="5532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  </a:t>
            </a:r>
            <a:r>
              <a:rPr lang="en-US" sz="1100" dirty="0">
                <a:solidFill>
                  <a:schemeClr val="tx2"/>
                </a:solidFill>
              </a:rPr>
              <a:t>Se valida antes de cada INSERT o UPDATE (por fila).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  </a:t>
            </a:r>
            <a:r>
              <a:rPr lang="en-US" sz="1100" dirty="0">
                <a:solidFill>
                  <a:schemeClr val="tx2"/>
                </a:solidFill>
              </a:rPr>
              <a:t>Stock nulo o negativo: error ‑20010.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  </a:t>
            </a:r>
            <a:r>
              <a:rPr lang="en-US" sz="1100" dirty="0">
                <a:solidFill>
                  <a:schemeClr val="tx2"/>
                </a:solidFill>
              </a:rPr>
              <a:t>Stock mínimo nulo o negativo: error ‑20011.</a:t>
            </a:r>
            <a:endParaRPr lang="en-US" sz="1100" dirty="0"/>
          </a:p>
        </p:txBody>
      </p:sp>
      <p:sp>
        <p:nvSpPr>
          <p:cNvPr id="9" name="s14_cap_397"/>
          <p:cNvSpPr/>
          <p:nvPr/>
        </p:nvSpPr>
        <p:spPr>
          <a:xfrm>
            <a:off x="6355080" y="5532120"/>
            <a:ext cx="5285232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s14_t_398"/>
          <p:cNvSpPr txBox="1"/>
          <p:nvPr/>
        </p:nvSpPr>
        <p:spPr>
          <a:xfrm>
            <a:off x="6537960" y="5532120"/>
            <a:ext cx="4919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  </a:t>
            </a:r>
            <a:r>
              <a:rPr lang="en-US" sz="1100" dirty="0">
                <a:solidFill>
                  <a:schemeClr val="tx2"/>
                </a:solidFill>
              </a:rPr>
              <a:t>Sin FOR EACH ROW: corre una vez por sentencia.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  </a:t>
            </a:r>
            <a:r>
              <a:rPr lang="en-US" sz="1100" dirty="0">
                <a:solidFill>
                  <a:schemeClr val="tx2"/>
                </a:solidFill>
              </a:rPr>
              <a:t>Detecta INSERTING, UPDATING o DELETING.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  </a:t>
            </a:r>
            <a:r>
              <a:rPr lang="en-US" sz="1100" dirty="0">
                <a:solidFill>
                  <a:schemeClr val="tx2"/>
                </a:solidFill>
              </a:rPr>
              <a:t>Inserta fecha, usuario y operación en la auditoría.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push/>
      </p:transition>
    </mc:Choice>
    <mc:Fallback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3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14  |  REGLAS DE NEGOCIO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Control de errores: un código por regla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NO_DATA_FOUND (predefinida) y RAISE_APPLICATION_ERROR (personalizados, -20000 a -20999).</a:t>
            </a:r>
            <a:endParaRPr lang="en-US" sz="1400" dirty="0"/>
          </a:p>
        </p:txBody>
      </p:sp>
      <p:graphicFrame>
        <p:nvGraphicFramePr>
          <p:cNvPr id="16" name="s15_tabla_39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CÓDIGO</a:t>
                      </a:r>
                      <a:endParaRPr lang="en-US" sz="12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QUIÉN LO LANZA</a:t>
                      </a:r>
                      <a:endParaRPr lang="en-US" sz="12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CUÁNDO</a:t>
                      </a:r>
                      <a:endParaRPr lang="en-US" sz="12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-20001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SP_CONFIRMAR_PEDIDO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Solo se confirma un pedido PENDIENTE</a:t>
                      </a:r>
                      <a:endParaRPr lang="en-US" sz="13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-20002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SP_CONFIRMAR_PEDIDO · TRG_PEDIDO_FILA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El pedido no tiene productos</a:t>
                      </a:r>
                      <a:endParaRPr lang="en-US" sz="13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-20003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SP_CONFIRMAR_PEDIDO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El pedido no existe (NO_DATA_FOUND)</a:t>
                      </a:r>
                      <a:endParaRPr lang="en-US" sz="13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-20010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TRG_INGREDIENTE_FILA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Stock insuficiente, nulo o negativo</a:t>
                      </a:r>
                      <a:endParaRPr lang="en-US" sz="13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-20016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TRG_PEDIDO_FILA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Hay productos sin receta</a:t>
                      </a:r>
                      <a:endParaRPr lang="en-US" sz="13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-20017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TRG_PEDIDO_FILA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Cambio de estado no permitido</a:t>
                      </a:r>
                      <a:endParaRPr lang="en-US" sz="13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-20019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TRG_DETALLE_FILA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Solo se modifica el detalle de un pedido PENDIENTE</a:t>
                      </a:r>
                      <a:endParaRPr lang="en-US" sz="13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-20004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SP_RESUMEN_VENTAS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</a:rPr>
                        <a:t>Período de ventas inválido</a:t>
                      </a:r>
                      <a:endParaRPr lang="en-US" sz="1300" dirty="0"/>
                    </a:p>
                  </a:txBody>
                  <a:tcPr marL="128016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15_ban_400"/>
          <p:cNvSpPr/>
          <p:nvPr/>
        </p:nvSpPr>
        <p:spPr>
          <a:xfrm>
            <a:off x="548640" y="5669280"/>
            <a:ext cx="11091672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/>
        </p:spPr>
      </p:sp>
      <p:pic>
        <p:nvPicPr>
          <p:cNvPr id="7" name="s15_img_40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833872"/>
            <a:ext cx="237744" cy="237744"/>
          </a:xfrm>
          <a:prstGeom prst="rect">
            <a:avLst/>
          </a:prstGeom>
        </p:spPr>
      </p:pic>
      <p:sp>
        <p:nvSpPr>
          <p:cNvPr id="8" name="s15_t_402"/>
          <p:cNvSpPr txBox="1"/>
          <p:nvPr/>
        </p:nvSpPr>
        <p:spPr>
          <a:xfrm>
            <a:off x="1280160" y="5669280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Cualquier error revierte la sentencia: </a:t>
            </a:r>
            <a:r>
              <a:rPr lang="en-US" sz="1400" dirty="0">
                <a:solidFill>
                  <a:schemeClr val="bg1"/>
                </a:solidFill>
              </a:rPr>
              <a:t>ningún ingrediente queda descontado a medias.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1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body" idx="103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15  |  EVIDENCIA</a:t>
            </a:r>
            <a:endParaRPr lang="en-US" sz="1100" dirty="0"/>
          </a:p>
        </p:txBody>
      </p:sp>
      <p:sp>
        <p:nvSpPr>
          <p:cNvPr id="3" name="Text 3"/>
          <p:cNvSpPr>
            <a:spLocks noGrp="1"/>
          </p:cNvSpPr>
          <p:nvPr>
            <p:ph type="title" idx="104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Resultados de las pruebas</a:t>
            </a:r>
            <a:endParaRPr lang="en-US" sz="3200" dirty="0"/>
          </a:p>
        </p:txBody>
      </p:sp>
      <p:sp>
        <p:nvSpPr>
          <p:cNvPr id="4" name="Text 3"/>
          <p:cNvSpPr>
            <a:spLocks noGrp="1"/>
          </p:cNvSpPr>
          <p:nvPr>
            <p:ph type="body" idx="105" hasCustomPrompt="1"/>
          </p:nvPr>
        </p:nvSpPr>
        <p:spPr>
          <a:xfrm>
            <a:off x="548640" y="124358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accent3"/>
                </a:solidFill>
              </a:rPr>
              <a:t>Confirmación de pedidos y resumen de ventas ejecutados en Oracle.</a:t>
            </a:r>
            <a:endParaRPr lang="en-US" sz="1400" dirty="0"/>
          </a:p>
        </p:txBody>
      </p:sp>
      <p:sp>
        <p:nvSpPr>
          <p:cNvPr id="5" name="s16_stat_403"/>
          <p:cNvSpPr/>
          <p:nvPr/>
        </p:nvSpPr>
        <p:spPr>
          <a:xfrm>
            <a:off x="548640" y="1691640"/>
            <a:ext cx="3383280" cy="4507992"/>
          </a:xfrm>
          <a:prstGeom prst="roundRect">
            <a:avLst>
              <a:gd name="adj" fmla="val 3784"/>
            </a:avLst>
          </a:prstGeom>
          <a:solidFill>
            <a:schemeClr val="tx1"/>
          </a:solidFill>
          <a:ln/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sp>
        <p:nvSpPr>
          <p:cNvPr id="6" name="s16_t_404"/>
          <p:cNvSpPr txBox="1"/>
          <p:nvPr/>
        </p:nvSpPr>
        <p:spPr>
          <a:xfrm>
            <a:off x="868680" y="19659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chemeClr val="bg1"/>
                </a:solidFill>
              </a:rPr>
              <a:t>$41.700</a:t>
            </a:r>
            <a:endParaRPr lang="en-US" sz="4600" dirty="0"/>
          </a:p>
        </p:txBody>
      </p:sp>
      <p:sp>
        <p:nvSpPr>
          <p:cNvPr id="7" name="s16_t_405"/>
          <p:cNvSpPr txBox="1"/>
          <p:nvPr/>
        </p:nvSpPr>
        <p:spPr>
          <a:xfrm>
            <a:off x="868680" y="28346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VENTAS DEL PERÍODO</a:t>
            </a:r>
            <a:endParaRPr lang="en-US" sz="1000" dirty="0"/>
          </a:p>
        </p:txBody>
      </p:sp>
      <p:sp>
        <p:nvSpPr>
          <p:cNvPr id="8" name="s16_t_406"/>
          <p:cNvSpPr txBox="1"/>
          <p:nvPr/>
        </p:nvSpPr>
        <p:spPr>
          <a:xfrm>
            <a:off x="86868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4</a:t>
            </a:r>
            <a:endParaRPr lang="en-US" sz="4400" dirty="0"/>
          </a:p>
        </p:txBody>
      </p:sp>
      <p:sp>
        <p:nvSpPr>
          <p:cNvPr id="9" name="s16_t_407"/>
          <p:cNvSpPr txBox="1"/>
          <p:nvPr/>
        </p:nvSpPr>
        <p:spPr>
          <a:xfrm>
            <a:off x="160020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pedidos nuevos confirmados correctamente</a:t>
            </a:r>
            <a:endParaRPr lang="en-US" sz="1300" dirty="0"/>
          </a:p>
        </p:txBody>
      </p:sp>
      <p:sp>
        <p:nvSpPr>
          <p:cNvPr id="10" name="s16_t_408"/>
          <p:cNvSpPr txBox="1"/>
          <p:nvPr/>
        </p:nvSpPr>
        <p:spPr>
          <a:xfrm>
            <a:off x="868680" y="4754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ORA‑20001</a:t>
            </a:r>
            <a:endParaRPr lang="en-US" sz="2000" dirty="0"/>
          </a:p>
        </p:txBody>
      </p:sp>
      <p:sp>
        <p:nvSpPr>
          <p:cNvPr id="11" name="s16_t_409"/>
          <p:cNvSpPr txBox="1"/>
          <p:nvPr/>
        </p:nvSpPr>
        <p:spPr>
          <a:xfrm>
            <a:off x="868680" y="5166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El pedido 1 fue rechazado porque ya no estaba PENDIENTE. Es la validación esperada.</a:t>
            </a:r>
            <a:endParaRPr lang="en-US" sz="1200" dirty="0"/>
          </a:p>
        </p:txBody>
      </p:sp>
      <p:pic>
        <p:nvPicPr>
          <p:cNvPr id="12" name="s16_code_410" descr="Bloques de prueba: listar pendientes, reporte de insumos y resumen de vent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691640"/>
            <a:ext cx="6776618" cy="2771546"/>
          </a:xfrm>
          <a:prstGeom prst="rect">
            <a:avLst/>
          </a:prstGeom>
        </p:spPr>
      </p:pic>
      <p:sp>
        <p:nvSpPr>
          <p:cNvPr id="13" name="s16_card_411"/>
          <p:cNvSpPr/>
          <p:nvPr/>
        </p:nvSpPr>
        <p:spPr>
          <a:xfrm>
            <a:off x="4206240" y="4600346"/>
            <a:ext cx="3625596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4" name="s16_badge_412"/>
          <p:cNvSpPr/>
          <p:nvPr/>
        </p:nvSpPr>
        <p:spPr>
          <a:xfrm>
            <a:off x="4370832" y="474665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16_badgen_413"/>
          <p:cNvSpPr txBox="1"/>
          <p:nvPr/>
        </p:nvSpPr>
        <p:spPr>
          <a:xfrm>
            <a:off x="4370832" y="47466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s16_t_414"/>
          <p:cNvSpPr txBox="1"/>
          <p:nvPr/>
        </p:nvSpPr>
        <p:spPr>
          <a:xfrm>
            <a:off x="4846320" y="4691786"/>
            <a:ext cx="2848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Pendientes e insumos bajos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Cursores anidados y reporte de ingredientes bajo el mínimo.</a:t>
            </a:r>
            <a:endParaRPr lang="en-US" sz="1400" dirty="0"/>
          </a:p>
        </p:txBody>
      </p:sp>
      <p:sp>
        <p:nvSpPr>
          <p:cNvPr id="17" name="s16_card_415"/>
          <p:cNvSpPr/>
          <p:nvPr/>
        </p:nvSpPr>
        <p:spPr>
          <a:xfrm>
            <a:off x="8014716" y="4600346"/>
            <a:ext cx="3625596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s16_badge_416"/>
          <p:cNvSpPr/>
          <p:nvPr/>
        </p:nvSpPr>
        <p:spPr>
          <a:xfrm>
            <a:off x="8179308" y="474665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16_badgen_417"/>
          <p:cNvSpPr txBox="1"/>
          <p:nvPr/>
        </p:nvSpPr>
        <p:spPr>
          <a:xfrm>
            <a:off x="8179308" y="47466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s16_t_418"/>
          <p:cNvSpPr txBox="1"/>
          <p:nvPr/>
        </p:nvSpPr>
        <p:spPr>
          <a:xfrm>
            <a:off x="8654796" y="4691786"/>
            <a:ext cx="2848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Resumen de ventas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chemeClr val="accent3"/>
                </a:solidFill>
              </a:rPr>
              <a:t>Suma solo pedidos CONFIRMADO o ENTREGADO y agrupa por producto.</a:t>
            </a:r>
            <a:endParaRPr lang="en-US" sz="1400" dirty="0"/>
          </a:p>
        </p:txBody>
      </p:sp>
      <p:sp>
        <p:nvSpPr>
          <p:cNvPr id="21" name="s16_apexrect_419">
            <a:hlinkClick r:id="rId4" tooltip="Abrir la app El Meo Diente: GestiÃ³n"/>
          </p:cNvPr>
          <p:cNvSpPr/>
          <p:nvPr/>
        </p:nvSpPr>
        <p:spPr>
          <a:xfrm>
            <a:off x="4206240" y="5560466"/>
            <a:ext cx="7434072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  <a:effectLst>
            <a:outerShdw blurRad="127000" dist="25400" dir="5400000" algn="bl" rotWithShape="0">
              <a:srgbClr val="1D2530">
                <a:alpha val="12000"/>
              </a:srgbClr>
            </a:outerShdw>
          </a:effectLst>
        </p:spPr>
      </p:sp>
      <p:pic>
        <p:nvPicPr>
          <p:cNvPr id="22" name="s16_img_4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5743346"/>
            <a:ext cx="274320" cy="274320"/>
          </a:xfrm>
          <a:prstGeom prst="rect">
            <a:avLst/>
          </a:prstGeom>
        </p:spPr>
      </p:pic>
      <p:sp>
        <p:nvSpPr>
          <p:cNvPr id="23" name="s16_t_421"/>
          <p:cNvSpPr txBox="1"/>
          <p:nvPr/>
        </p:nvSpPr>
        <p:spPr>
          <a:xfrm>
            <a:off x="4937760" y="5560466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bg1"/>
                </a:solidFill>
                <a:hlinkClick r:id="rId4" tooltip="Abrir la app El Meo Diente: Gest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la aplicación en Oracle APEX</a:t>
            </a:r>
            <a:endParaRPr lang="en-US" sz="1400" dirty="0"/>
          </a:p>
          <a:p>
            <a:pPr marL="0" indent="0">
              <a:buNone/>
            </a:pPr>
            <a:r>
              <a:rPr lang="en-US" sz="1150" dirty="0">
                <a:solidFill>
                  <a:schemeClr val="bg2"/>
                </a:solidFill>
              </a:rPr>
              <a:t>App «El Meo Diente: Gestión» conectada a nuestra base de datos</a:t>
            </a:r>
            <a:endParaRPr lang="en-US" sz="1400" dirty="0"/>
          </a:p>
        </p:txBody>
      </p:sp>
      <p:sp>
        <p:nvSpPr>
          <p:cNvPr id="24" name="s16_apexpill_422">
            <a:hlinkClick r:id="rId4" tooltip="Abrir la app El Meo Diente: GestiÃ³n"/>
          </p:cNvPr>
          <p:cNvSpPr/>
          <p:nvPr/>
        </p:nvSpPr>
        <p:spPr>
          <a:xfrm>
            <a:off x="9811512" y="5697626"/>
            <a:ext cx="160020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5" name="s16_t_423">
            <a:hlinkClick r:id="rId4" tooltip="Abrir la app El Meo Diente: Gestión"/>
          </p:cNvPr>
          <p:cNvSpPr txBox="1"/>
          <p:nvPr/>
        </p:nvSpPr>
        <p:spPr>
          <a:xfrm>
            <a:off x="9811512" y="569762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u="sng" kern="0" spc="100" dirty="0">
                <a:solidFill>
                  <a:schemeClr val="accent1"/>
                </a:solidFill>
                <a:hlinkClick r:id="rId4" tooltip="Abrir la app El Meo Diente: Gest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ABRIR APP  ›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55664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40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950"/>
                            </p:stCondLst>
                            <p:childTnLst>
                              <p:par>
                                <p:cTn id="65" presetID="23" presetClass="entr" presetSubtype="16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_circ_424"/>
          <p:cNvSpPr/>
          <p:nvPr/>
        </p:nvSpPr>
        <p:spPr>
          <a:xfrm>
            <a:off x="7955280" y="-1371600"/>
            <a:ext cx="6035040" cy="603504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" name="s17_circ_425"/>
          <p:cNvSpPr/>
          <p:nvPr/>
        </p:nvSpPr>
        <p:spPr>
          <a:xfrm>
            <a:off x="9144000" y="3291840"/>
            <a:ext cx="4937760" cy="4937760"/>
          </a:xfrm>
          <a:prstGeom prst="ellipse">
            <a:avLst/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4" name="s17_t_426"/>
          <p:cNvSpPr txBox="1"/>
          <p:nvPr/>
        </p:nvSpPr>
        <p:spPr>
          <a:xfrm>
            <a:off x="777240" y="109728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UNA SOLUCIÓN MÁS</a:t>
            </a:r>
            <a:endParaRPr lang="en-US" sz="4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ROBUSTA Y TRAZABLE</a:t>
            </a:r>
            <a:endParaRPr lang="en-US" sz="4400" dirty="0"/>
          </a:p>
        </p:txBody>
      </p:sp>
      <p:sp>
        <p:nvSpPr>
          <p:cNvPr id="5" name="s17_pill_427"/>
          <p:cNvSpPr/>
          <p:nvPr/>
        </p:nvSpPr>
        <p:spPr>
          <a:xfrm>
            <a:off x="777240" y="3200400"/>
            <a:ext cx="274320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6" name="s17_t_428"/>
          <p:cNvSpPr txBox="1"/>
          <p:nvPr/>
        </p:nvSpPr>
        <p:spPr>
          <a:xfrm>
            <a:off x="77724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Package centralizado</a:t>
            </a:r>
            <a:endParaRPr lang="en-US" sz="1400" dirty="0"/>
          </a:p>
        </p:txBody>
      </p:sp>
      <p:sp>
        <p:nvSpPr>
          <p:cNvPr id="7" name="s17_pill_429"/>
          <p:cNvSpPr/>
          <p:nvPr/>
        </p:nvSpPr>
        <p:spPr>
          <a:xfrm>
            <a:off x="3703320" y="320040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8" name="s17_t_430"/>
          <p:cNvSpPr txBox="1"/>
          <p:nvPr/>
        </p:nvSpPr>
        <p:spPr>
          <a:xfrm>
            <a:off x="370332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4 triggers</a:t>
            </a:r>
            <a:endParaRPr lang="en-US" sz="1400" dirty="0"/>
          </a:p>
        </p:txBody>
      </p:sp>
      <p:sp>
        <p:nvSpPr>
          <p:cNvPr id="9" name="s17_pill_431"/>
          <p:cNvSpPr/>
          <p:nvPr/>
        </p:nvSpPr>
        <p:spPr>
          <a:xfrm>
            <a:off x="5440680" y="3200400"/>
            <a:ext cx="274320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0" name="s17_t_432"/>
          <p:cNvSpPr txBox="1"/>
          <p:nvPr/>
        </p:nvSpPr>
        <p:spPr>
          <a:xfrm>
            <a:off x="544068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Control por ingredientes</a:t>
            </a:r>
            <a:endParaRPr lang="en-US" sz="1400" dirty="0"/>
          </a:p>
        </p:txBody>
      </p:sp>
      <p:sp>
        <p:nvSpPr>
          <p:cNvPr id="11" name="s17_pill_433"/>
          <p:cNvSpPr/>
          <p:nvPr/>
        </p:nvSpPr>
        <p:spPr>
          <a:xfrm>
            <a:off x="8366760" y="320040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2" name="s17_t_434"/>
          <p:cNvSpPr txBox="1"/>
          <p:nvPr/>
        </p:nvSpPr>
        <p:spPr>
          <a:xfrm>
            <a:off x="83667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Ventas verificables</a:t>
            </a:r>
            <a:endParaRPr lang="en-US" sz="1400" dirty="0"/>
          </a:p>
        </p:txBody>
      </p:sp>
      <p:sp>
        <p:nvSpPr>
          <p:cNvPr id="13" name="s17_t_435"/>
          <p:cNvSpPr txBox="1"/>
          <p:nvPr/>
        </p:nvSpPr>
        <p:spPr>
          <a:xfrm>
            <a:off x="777240" y="4343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¿Preguntas?</a:t>
            </a:r>
            <a:endParaRPr lang="en-US" sz="4000" dirty="0"/>
          </a:p>
        </p:txBody>
      </p:sp>
      <p:sp>
        <p:nvSpPr>
          <p:cNvPr id="14" name="s17_ln_436"/>
          <p:cNvSpPr/>
          <p:nvPr/>
        </p:nvSpPr>
        <p:spPr>
          <a:xfrm>
            <a:off x="777240" y="5440680"/>
            <a:ext cx="106070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s17_t_437"/>
          <p:cNvSpPr txBox="1"/>
          <p:nvPr/>
        </p:nvSpPr>
        <p:spPr>
          <a:xfrm>
            <a:off x="777240" y="5623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Felipe Arce  ·  Vicente Azócar  ·  Jonelvi Castro  ·  Williams Tapia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5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700"/>
                            </p:stCondLst>
                            <p:childTnLst>
                              <p:par>
                                <p:cTn id="34" presetID="23" presetClass="entr" presetSubtype="16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50"/>
                            </p:stCondLst>
                            <p:childTnLst>
                              <p:par>
                                <p:cTn id="43" presetID="23" presetClass="entr" presetSubtype="16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3" grpId="0" animBg="1"/>
      <p:bldP spid="15" grpId="0" animBg="1"/>
    </p:bldLst>
  </p:timing>
</p:sld>
</file>

<file path=ppt/theme/theme1.xml><?xml version="1.0" encoding="utf-8"?>
<a:theme xmlns:a="http://schemas.openxmlformats.org/drawingml/2006/main" name="El Meo Diente">
  <a:themeElements>
    <a:clrScheme name="El Meo Diente">
      <a:dk1>
        <a:srgbClr val="141923"/>
      </a:dk1>
      <a:lt1>
        <a:srgbClr val="FFFFFF"/>
      </a:lt1>
      <a:dk2>
        <a:srgbClr val="1D2530"/>
      </a:dk2>
      <a:lt2>
        <a:srgbClr val="F8F8F6"/>
      </a:lt2>
      <a:accent1>
        <a:srgbClr val="FA5D35"/>
      </a:accent1>
      <a:accent2>
        <a:srgbClr val="F6B83C"/>
      </a:accent2>
      <a:accent3>
        <a:srgbClr val="66717C"/>
      </a:accent3>
      <a:accent4>
        <a:srgbClr val="E0E2E4"/>
      </a:accent4>
      <a:accent5>
        <a:srgbClr val="FFF0E9"/>
      </a:accent5>
      <a:accent6>
        <a:srgbClr val="3FBF7F"/>
      </a:accent6>
      <a:hlink>
        <a:srgbClr val="FA5D35"/>
      </a:hlink>
      <a:folHlink>
        <a:srgbClr val="66717C"/>
      </a:folHlink>
    </a:clrScheme>
    <a:fontScheme name="El Meo Dient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3089</Words>
  <Application>Microsoft Office PowerPoint</Application>
  <PresentationFormat>Panorámica</PresentationFormat>
  <Paragraphs>439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Consolas</vt:lpstr>
      <vt:lpstr>Segoe UI</vt:lpstr>
      <vt:lpstr>Segoe UI Semibold</vt:lpstr>
      <vt:lpstr>El Meo Diente</vt:lpstr>
      <vt:lpstr>Presentación de PowerPoint</vt:lpstr>
      <vt:lpstr>Cuatro problemas en la operación manual</vt:lpstr>
      <vt:lpstr>De la primera versión a la solución actual</vt:lpstr>
      <vt:lpstr>Las tablas que sostienen la solución</vt:lpstr>
      <vt:lpstr>Cómo se reparte la responsabilidad</vt:lpstr>
      <vt:lpstr>PKG_EL_MEO_DIENTE</vt:lpstr>
      <vt:lpstr>FN_TOTAL_PEDIDO: el total sin errores humanos</vt:lpstr>
      <vt:lpstr>SP_CONFIRMAR_PEDIDO: valida y confirma</vt:lpstr>
      <vt:lpstr>Cómo se confirma un pedido</vt:lpstr>
      <vt:lpstr>SP_LISTAR_PENDIENTES: cursores anidados</vt:lpstr>
      <vt:lpstr>Cuatro triggers en funcionamiento</vt:lpstr>
      <vt:lpstr>TRG_PEDIDO_FILA: valida antes de actuar</vt:lpstr>
      <vt:lpstr>TRG_PEDIDO_FILA: descuenta por ingrediente</vt:lpstr>
      <vt:lpstr>Triggers sobre INGREDIENTES</vt:lpstr>
      <vt:lpstr>Control de errores: un código por regla</vt:lpstr>
      <vt:lpstr>Resultados de las pruebas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Meo Diente - Packages y triggers</dc:title>
  <dc:subject>PptxGenJS Presentation</dc:subject>
  <dc:creator>Felipe Arce, Vicente Azócar, Jonelvi Castro, Williams Tapia</dc:creator>
  <cp:lastModifiedBy>jonelvi castro</cp:lastModifiedBy>
  <cp:revision>2</cp:revision>
  <dcterms:created xsi:type="dcterms:W3CDTF">2026-10-25T22:39:01Z</dcterms:created>
  <dcterms:modified xsi:type="dcterms:W3CDTF">2026-10-25T22:39:22Z</dcterms:modified>
</cp:coreProperties>
</file>